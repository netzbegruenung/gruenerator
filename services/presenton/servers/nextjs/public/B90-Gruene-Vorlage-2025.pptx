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1"/>
    <p:sldMasterId id="2147483674" r:id="rId2"/>
  </p:sldMasterIdLst>
  <p:notesMasterIdLst>
    <p:notesMasterId r:id="rId24"/>
  </p:notesMasterIdLst>
  <p:sldIdLst>
    <p:sldId id="256" r:id="rId3"/>
    <p:sldId id="286" r:id="rId4"/>
    <p:sldId id="260" r:id="rId5"/>
    <p:sldId id="267" r:id="rId6"/>
    <p:sldId id="264" r:id="rId7"/>
    <p:sldId id="296" r:id="rId8"/>
    <p:sldId id="262" r:id="rId9"/>
    <p:sldId id="287" r:id="rId10"/>
    <p:sldId id="266" r:id="rId11"/>
    <p:sldId id="291" r:id="rId12"/>
    <p:sldId id="289" r:id="rId13"/>
    <p:sldId id="290" r:id="rId14"/>
    <p:sldId id="265" r:id="rId15"/>
    <p:sldId id="258" r:id="rId16"/>
    <p:sldId id="276" r:id="rId17"/>
    <p:sldId id="280" r:id="rId18"/>
    <p:sldId id="292" r:id="rId19"/>
    <p:sldId id="282" r:id="rId20"/>
    <p:sldId id="293" r:id="rId21"/>
    <p:sldId id="294" r:id="rId22"/>
    <p:sldId id="284" r:id="rId2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anne" id="{DE0756F9-8F00-8F46-A9FE-29ED004A8AC0}">
          <p14:sldIdLst>
            <p14:sldId id="256"/>
            <p14:sldId id="286"/>
            <p14:sldId id="260"/>
            <p14:sldId id="267"/>
            <p14:sldId id="264"/>
            <p14:sldId id="296"/>
            <p14:sldId id="262"/>
            <p14:sldId id="287"/>
            <p14:sldId id="266"/>
            <p14:sldId id="291"/>
            <p14:sldId id="289"/>
            <p14:sldId id="290"/>
            <p14:sldId id="265"/>
            <p14:sldId id="258"/>
          </p14:sldIdLst>
        </p14:section>
        <p14:section name="Sand" id="{1FEA3765-9B29-B94C-82BA-691A5104194D}">
          <p14:sldIdLst>
            <p14:sldId id="276"/>
            <p14:sldId id="280"/>
            <p14:sldId id="292"/>
            <p14:sldId id="282"/>
            <p14:sldId id="293"/>
            <p14:sldId id="294"/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538"/>
    <a:srgbClr val="F5F1E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386"/>
    <p:restoredTop sz="94696"/>
  </p:normalViewPr>
  <p:slideViewPr>
    <p:cSldViewPr snapToGrid="0">
      <p:cViewPr>
        <p:scale>
          <a:sx n="102" d="100"/>
          <a:sy n="102" d="100"/>
        </p:scale>
        <p:origin x="1704" y="3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65" d="100"/>
          <a:sy n="165" d="100"/>
        </p:scale>
        <p:origin x="2144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-Arbeitsblat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-Arbeitsblat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-Arbeitsblat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-Arbeitsblat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 dirty="0">
                <a:solidFill>
                  <a:srgbClr val="F5F1E9"/>
                </a:solidFill>
                <a:latin typeface="PT Sans" panose="020B0503020203020204" pitchFamily="34" charset="77"/>
              </a:rPr>
              <a:t>Balken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3B-4248-BB9B-B36B0CB7ED36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A3B-4248-BB9B-B36B0CB7ED36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A3B-4248-BB9B-B36B0CB7ED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09724031"/>
        <c:axId val="309724479"/>
      </c:barChart>
      <c:catAx>
        <c:axId val="3097240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F5F1E9"/>
                </a:solidFill>
                <a:latin typeface="PT Sans" panose="020B0503020203020204" pitchFamily="34" charset="77"/>
                <a:ea typeface="+mn-ea"/>
                <a:cs typeface="+mn-cs"/>
              </a:defRPr>
            </a:pPr>
            <a:endParaRPr lang="de-DE"/>
          </a:p>
        </c:txPr>
        <c:crossAx val="309724479"/>
        <c:crosses val="autoZero"/>
        <c:auto val="1"/>
        <c:lblAlgn val="ctr"/>
        <c:lblOffset val="100"/>
        <c:noMultiLvlLbl val="0"/>
      </c:catAx>
      <c:valAx>
        <c:axId val="3097244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097240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F5F1E9"/>
              </a:solidFill>
              <a:latin typeface="PT Sans" panose="020B0503020203020204" pitchFamily="34" charset="77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rgbClr val="F5F1E9"/>
                </a:solidFill>
                <a:latin typeface="PT Sans" panose="020B0503020203020204" pitchFamily="34" charset="77"/>
              </a:rPr>
              <a:t>Torte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7EE-3C4F-B56E-CD1D3DEDDF3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7EE-3C4F-B56E-CD1D3DEDDF3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7EE-3C4F-B56E-CD1D3DEDDF3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7EE-3C4F-B56E-CD1D3DEDDF31}"/>
              </c:ext>
            </c:extLst>
          </c:dPt>
          <c:cat>
            <c:strRef>
              <c:f>Tabelle1!$A$2:$A$5</c:f>
              <c:strCache>
                <c:ptCount val="4"/>
                <c:pt idx="0">
                  <c:v>1. Quartal</c:v>
                </c:pt>
                <c:pt idx="1">
                  <c:v>2. Quartal</c:v>
                </c:pt>
                <c:pt idx="2">
                  <c:v>3. Quartal</c:v>
                </c:pt>
                <c:pt idx="3">
                  <c:v>4. Quartal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BE-D04E-AA5F-CEA443085A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F5F1E9"/>
              </a:solidFill>
              <a:latin typeface="PT Sans" panose="020B0503020203020204" pitchFamily="34" charset="77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 dirty="0">
                <a:solidFill>
                  <a:srgbClr val="005538"/>
                </a:solidFill>
                <a:latin typeface="PT Sans" panose="020B0503020203020204" pitchFamily="34" charset="77"/>
              </a:rPr>
              <a:t>Balken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04-5B45-AF30-32E2DE8EC3E6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04-5B45-AF30-32E2DE8EC3E6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604-5B45-AF30-32E2DE8EC3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09724031"/>
        <c:axId val="309724479"/>
      </c:barChart>
      <c:catAx>
        <c:axId val="3097240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F5F1E9"/>
                </a:solidFill>
                <a:latin typeface="PT Sans" panose="020B0503020203020204" pitchFamily="34" charset="77"/>
                <a:ea typeface="+mn-ea"/>
                <a:cs typeface="+mn-cs"/>
              </a:defRPr>
            </a:pPr>
            <a:endParaRPr lang="de-DE"/>
          </a:p>
        </c:txPr>
        <c:crossAx val="309724479"/>
        <c:crosses val="autoZero"/>
        <c:auto val="1"/>
        <c:lblAlgn val="ctr"/>
        <c:lblOffset val="100"/>
        <c:noMultiLvlLbl val="0"/>
      </c:catAx>
      <c:valAx>
        <c:axId val="3097244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097240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005538"/>
              </a:solidFill>
              <a:latin typeface="PT Sans" panose="020B0503020203020204" pitchFamily="34" charset="77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rgbClr val="005538"/>
                </a:solidFill>
                <a:latin typeface="PT Sans" panose="020B0503020203020204" pitchFamily="34" charset="77"/>
              </a:rPr>
              <a:t>Torte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CA9-384D-8762-FF30CAE404C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CA9-384D-8762-FF30CAE404C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CA9-384D-8762-FF30CAE404C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CA9-384D-8762-FF30CAE404C6}"/>
              </c:ext>
            </c:extLst>
          </c:dPt>
          <c:cat>
            <c:strRef>
              <c:f>Tabelle1!$A$2:$A$5</c:f>
              <c:strCache>
                <c:ptCount val="4"/>
                <c:pt idx="0">
                  <c:v>1. Quartal</c:v>
                </c:pt>
                <c:pt idx="1">
                  <c:v>2. Quartal</c:v>
                </c:pt>
                <c:pt idx="2">
                  <c:v>3. Quartal</c:v>
                </c:pt>
                <c:pt idx="3">
                  <c:v>4. Quartal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CA9-384D-8762-FF30CAE404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005538"/>
              </a:solidFill>
              <a:latin typeface="PT Sans" panose="020B0503020203020204" pitchFamily="34" charset="77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8F860E-76B6-7B49-837B-6ABD5C0D6A46}" type="datetimeFigureOut">
              <a:rPr lang="de-DE" smtClean="0"/>
              <a:t>08.10.25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F63EDA-2710-8945-AEFF-335A56F5D34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2330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63EDA-2710-8945-AEFF-335A56F5D348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2318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63EDA-2710-8945-AEFF-335A56F5D348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43004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63EDA-2710-8945-AEFF-335A56F5D348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2688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63EDA-2710-8945-AEFF-335A56F5D348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5582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F0C511A8-982D-85E7-116A-C3E756B43E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44104" y="-1743149"/>
            <a:ext cx="8380656" cy="8282061"/>
          </a:xfrm>
          <a:prstGeom prst="rect">
            <a:avLst/>
          </a:prstGeom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EEAE638-7E0C-9D1C-E8F9-44DA13B71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B0F66-4FD5-184D-88E8-F6DDB6A167F8}" type="datetime2">
              <a:rPr lang="de-DE" smtClean="0"/>
              <a:t>Mittwoch, 8. Oktober 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AF08292-863C-7142-C78F-27AF16059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Beispielfußzeile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5A82EB8-8244-355E-3028-E46812E3E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D175B-08D9-8E40-A64A-C81A91DD0841}" type="slidenum">
              <a:rPr lang="de-DE" smtClean="0"/>
              <a:t>‹Nr.›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591391F-9FD9-2345-3680-8A1E4FFC64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19" y="512763"/>
            <a:ext cx="11684816" cy="180710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9000"/>
            </a:lvl1pPr>
          </a:lstStyle>
          <a:p>
            <a:r>
              <a:rPr lang="de-DE" dirty="0" err="1"/>
              <a:t>MastertitelfFormat</a:t>
            </a:r>
            <a:r>
              <a:rPr lang="de-DE" dirty="0"/>
              <a:t> bearbeiten</a:t>
            </a:r>
          </a:p>
        </p:txBody>
      </p:sp>
    </p:spTree>
    <p:extLst>
      <p:ext uri="{BB962C8B-B14F-4D97-AF65-F5344CB8AC3E}">
        <p14:creationId xmlns:p14="http://schemas.microsoft.com/office/powerpoint/2010/main" val="3367125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86CA6DF-F54D-5B49-1F33-0A5001160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3ED12-41B9-FB49-94D4-9B4A6FE0FF5D}" type="datetime2">
              <a:rPr lang="de-DE" smtClean="0"/>
              <a:t>Mittwoch, 8. Oktober 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D87AE4-B272-4984-A6E6-D0F3B4A35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Beispielfußzeile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F409684-2E92-146F-70E8-D232C6F8B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D3D175B-08D9-8E40-A64A-C81A91DD0841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71D82847-6666-C34B-B8E6-80CE418F7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512763"/>
            <a:ext cx="10515600" cy="79110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3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FF3FFE9F-0188-E917-574A-6DEADBC603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8" y="1838326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58053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ABC02A-F9ED-D637-D1F8-FE4F15DF7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554455"/>
            <a:ext cx="10515600" cy="74094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3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278FE1A-377C-FC90-9B56-5ED222DEE2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4073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3357902-9903-6B73-FFC2-670EAE44C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C78E5CE-426B-A7F8-B859-2B81DE165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F91C6-FD50-9C4C-B569-16B49C737EA3}" type="datetime2">
              <a:rPr lang="de-DE" smtClean="0"/>
              <a:t>Mittwoch, 8. Oktober 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D483227-225B-0EA7-2D4B-11FE774C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Beispielfußzeile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0559E6-6ECB-8CA3-B4F4-FFE982946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D175B-08D9-8E40-A64A-C81A91DD08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4936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F0C511A8-982D-85E7-116A-C3E756B43E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44104" y="-1743149"/>
            <a:ext cx="8380656" cy="8282061"/>
          </a:xfrm>
          <a:prstGeom prst="rect">
            <a:avLst/>
          </a:prstGeom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EEAE638-7E0C-9D1C-E8F9-44DA13B71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0991-E325-D94A-A8D1-25329B530A97}" type="datetime2">
              <a:rPr lang="de-DE" smtClean="0"/>
              <a:t>Mittwoch, 8. Oktober 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AF08292-863C-7142-C78F-27AF16059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Beispielfußzeile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5A82EB8-8244-355E-3028-E46812E3E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D175B-08D9-8E40-A64A-C81A91DD0841}" type="slidenum">
              <a:rPr lang="de-DE" smtClean="0"/>
              <a:t>‹Nr.›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591391F-9FD9-2345-3680-8A1E4FFC64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19" y="512763"/>
            <a:ext cx="11684816" cy="171983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9000"/>
            </a:lvl1pPr>
          </a:lstStyle>
          <a:p>
            <a:r>
              <a:rPr lang="de-DE" dirty="0" err="1"/>
              <a:t>MastertitelfFormat</a:t>
            </a:r>
            <a:r>
              <a:rPr lang="de-DE" dirty="0"/>
              <a:t> bearbeiten</a:t>
            </a:r>
          </a:p>
        </p:txBody>
      </p:sp>
    </p:spTree>
    <p:extLst>
      <p:ext uri="{BB962C8B-B14F-4D97-AF65-F5344CB8AC3E}">
        <p14:creationId xmlns:p14="http://schemas.microsoft.com/office/powerpoint/2010/main" val="3772585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86CA6DF-F54D-5B49-1F33-0A5001160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53C1D-B4E0-2742-89E9-08078CABE5DF}" type="datetime2">
              <a:rPr lang="de-DE" smtClean="0"/>
              <a:t>Mittwoch, 8. Oktober 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D87AE4-B272-4984-A6E6-D0F3B4A35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Beispielfußzeile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F409684-2E92-146F-70E8-D232C6F8B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5538"/>
                </a:solidFill>
              </a:defRPr>
            </a:lvl1pPr>
          </a:lstStyle>
          <a:p>
            <a:fld id="{4D3D175B-08D9-8E40-A64A-C81A91DD0841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71D82847-6666-C34B-B8E6-80CE418F7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534459"/>
            <a:ext cx="10515600" cy="769408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FF3FFE9F-0188-E917-574A-6DEADBC603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8" y="1838326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067599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ABC02A-F9ED-D637-D1F8-FE4F15DF7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554455"/>
            <a:ext cx="10515600" cy="71554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278FE1A-377C-FC90-9B56-5ED222DEE2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4073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3357902-9903-6B73-FFC2-670EAE44C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C78E5CE-426B-A7F8-B859-2B81DE165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D25B0-8960-F247-82D5-C3F3753961FB}" type="datetime2">
              <a:rPr lang="de-DE" smtClean="0"/>
              <a:t>Mittwoch, 8. Oktober 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D483227-225B-0EA7-2D4B-11FE774C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Beispielfußzeile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0559E6-6ECB-8CA3-B4F4-FFE982946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D175B-08D9-8E40-A64A-C81A91DD08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0655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5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EF289AB-1B6A-D541-84A2-64DDE9243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512764"/>
            <a:ext cx="10515600" cy="8249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8540A8-246A-04F6-CEF2-64579BD04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1299" y="2005012"/>
            <a:ext cx="10515600" cy="39520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3EB4D6-A84E-C616-3390-8BE9B231B8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9832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5F1E9"/>
                </a:solidFill>
                <a:latin typeface="PT Sans" panose="020B0503020203020204" pitchFamily="34" charset="77"/>
              </a:defRPr>
            </a:lvl1pPr>
          </a:lstStyle>
          <a:p>
            <a:fld id="{9DFC4C05-3E57-2946-80FB-884944A6A525}" type="datetime2">
              <a:rPr lang="de-DE" smtClean="0"/>
              <a:t>Mittwoch, 8. Oktober 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4C5BF1-01B5-774E-7D5D-DF90E58675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5F1E9"/>
                </a:solidFill>
                <a:latin typeface="PT Sans" panose="020B0503020203020204" pitchFamily="34" charset="77"/>
              </a:defRPr>
            </a:lvl1pPr>
          </a:lstStyle>
          <a:p>
            <a:r>
              <a:rPr lang="de-DE"/>
              <a:t>Beispielfußzeile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EA6F6D-2780-10A7-20B7-6743B3F19C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98968" y="64706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5F1E9"/>
                </a:solidFill>
                <a:latin typeface="PT Sans" panose="020B0503020203020204" pitchFamily="34" charset="77"/>
              </a:defRPr>
            </a:lvl1pPr>
          </a:lstStyle>
          <a:p>
            <a:fld id="{4D3D175B-08D9-8E40-A64A-C81A91DD0841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52E8C7E-0C33-DF2E-597D-0CFA79AAB09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32355" y="196449"/>
            <a:ext cx="369472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742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300" kern="1200">
          <a:solidFill>
            <a:srgbClr val="F5F1E9"/>
          </a:solidFill>
          <a:latin typeface="GrueneType Neue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rgbClr val="F5F1E9"/>
          </a:solidFill>
          <a:latin typeface="PT Sans" panose="020B0503020203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F5F1E9"/>
          </a:solidFill>
          <a:latin typeface="PT Sans" panose="020B0503020203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F5F1E9"/>
          </a:solidFill>
          <a:latin typeface="PT Sans" panose="020B0503020203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5F1E9"/>
          </a:solidFill>
          <a:latin typeface="PT Sans" panose="020B0503020203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5F1E9"/>
          </a:solidFill>
          <a:latin typeface="PT Sans" panose="020B0503020203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EF289AB-1B6A-D541-84A2-64DDE9243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512764"/>
            <a:ext cx="10515600" cy="7995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8540A8-246A-04F6-CEF2-64579BD04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1299" y="2005012"/>
            <a:ext cx="10515600" cy="39520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3EB4D6-A84E-C616-3390-8BE9B231B8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9832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05538"/>
                </a:solidFill>
                <a:latin typeface="PT Sans" panose="020B0503020203020204" pitchFamily="34" charset="77"/>
              </a:defRPr>
            </a:lvl1pPr>
          </a:lstStyle>
          <a:p>
            <a:fld id="{9192E979-1B98-1541-834F-465A5FF0A5AD}" type="datetime2">
              <a:rPr lang="de-DE" smtClean="0"/>
              <a:t>Mittwoch, 8. Oktober 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4C5BF1-01B5-774E-7D5D-DF90E58675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5538"/>
                </a:solidFill>
                <a:latin typeface="PT Sans" panose="020B0503020203020204" pitchFamily="34" charset="77"/>
              </a:defRPr>
            </a:lvl1pPr>
          </a:lstStyle>
          <a:p>
            <a:r>
              <a:rPr lang="de-DE" dirty="0"/>
              <a:t>Beispielfußzeile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EA6F6D-2780-10A7-20B7-6743B3F19C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98968" y="64706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5538"/>
                </a:solidFill>
                <a:latin typeface="PT Sans" panose="020B0503020203020204" pitchFamily="34" charset="77"/>
              </a:defRPr>
            </a:lvl1pPr>
          </a:lstStyle>
          <a:p>
            <a:fld id="{4D3D175B-08D9-8E40-A64A-C81A91DD0841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52E8C7E-0C33-DF2E-597D-0CFA79AAB09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32355" y="196449"/>
            <a:ext cx="369472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012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300" kern="1200">
          <a:solidFill>
            <a:srgbClr val="005538"/>
          </a:solidFill>
          <a:latin typeface="GrueneType Neue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5538"/>
          </a:solidFill>
          <a:latin typeface="PT Sans" panose="020B0503020203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5538"/>
          </a:solidFill>
          <a:latin typeface="PT Sans" panose="020B0503020203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5538"/>
          </a:solidFill>
          <a:latin typeface="PT Sans" panose="020B0503020203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5538"/>
          </a:solidFill>
          <a:latin typeface="PT Sans" panose="020B0503020203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5538"/>
          </a:solidFill>
          <a:latin typeface="PT Sans" panose="020B0503020203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>
          <p15:clr>
            <a:srgbClr val="F26B43"/>
          </p15:clr>
        </p15:guide>
        <p15:guide id="2" pos="32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design.gruene.de/4ccd94a80/p/24c194-typografi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" Type="http://schemas.openxmlformats.org/officeDocument/2006/relationships/hyperlink" Target="https://design.gruene.de/4ccd94a80/p/173924-bildquellen" TargetMode="External"/><Relationship Id="rId21" Type="http://schemas.openxmlformats.org/officeDocument/2006/relationships/image" Target="../media/image27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23.svg"/><Relationship Id="rId25" Type="http://schemas.openxmlformats.org/officeDocument/2006/relationships/image" Target="../media/image31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29" Type="http://schemas.openxmlformats.org/officeDocument/2006/relationships/image" Target="../media/image35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24" Type="http://schemas.openxmlformats.org/officeDocument/2006/relationships/image" Target="../media/image30.pn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23" Type="http://schemas.openxmlformats.org/officeDocument/2006/relationships/image" Target="../media/image29.svg"/><Relationship Id="rId28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25.svg"/><Relationship Id="rId31" Type="http://schemas.openxmlformats.org/officeDocument/2006/relationships/image" Target="../media/image37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33.svg"/><Relationship Id="rId30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C9FEC3-2055-E8D4-0AFB-264EBF2EF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26" y="578226"/>
            <a:ext cx="11684816" cy="1719835"/>
          </a:xfrm>
        </p:spPr>
        <p:txBody>
          <a:bodyPr anchor="ctr"/>
          <a:lstStyle/>
          <a:p>
            <a:r>
              <a:rPr lang="de-DE" sz="16000" dirty="0"/>
              <a:t>Titelfolie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19B3FAF-5ECC-6214-BC57-B0E08D47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5A1BA-83F8-F848-8DA4-523E1D916D78}" type="datetime2">
              <a:rPr lang="de-DE" smtClean="0"/>
              <a:t>Mittwoch, 8. Oktober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ED88E6D-C8D2-7CB8-50CF-54EDA6E1F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Beispielfußzeile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B5914B4-36FF-E42C-1685-02B5B4DE7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D175B-08D9-8E40-A64A-C81A91DD0841}" type="slidenum">
              <a:rPr lang="de-DE" smtClean="0"/>
              <a:t>1</a:t>
            </a:fld>
            <a:endParaRPr lang="de-DE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4F6FAD27-E799-D96E-16B4-BFD7547B2BE2}"/>
              </a:ext>
            </a:extLst>
          </p:cNvPr>
          <p:cNvSpPr txBox="1">
            <a:spLocks/>
          </p:cNvSpPr>
          <p:nvPr/>
        </p:nvSpPr>
        <p:spPr>
          <a:xfrm>
            <a:off x="405326" y="2301873"/>
            <a:ext cx="7058730" cy="16097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F5F1E9"/>
                </a:solidFill>
                <a:latin typeface="PT Sans" panose="020B05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F5F1E9"/>
                </a:solidFill>
                <a:latin typeface="PT Sans" panose="020B05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F5F1E9"/>
                </a:solidFill>
                <a:latin typeface="PT Sans" panose="020B05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F5F1E9"/>
                </a:solidFill>
                <a:latin typeface="PT Sans" panose="020B05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F5F1E9"/>
                </a:solidFill>
                <a:latin typeface="PT Sans" panose="020B05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sz="2000" dirty="0"/>
              <a:t>Verwende auf der ersten Folie eine große Headline – denn großzügige Titelfolien schaffen Aufmerksamkeit. </a:t>
            </a:r>
            <a:r>
              <a:rPr lang="de-DE" sz="2000" b="1" dirty="0"/>
              <a:t>Versuche Inhalte grundsätzlich auf das Wesentliche zu reduzieren. </a:t>
            </a:r>
            <a:r>
              <a:rPr lang="de-DE" sz="2000" dirty="0"/>
              <a:t>Niemand liest gern Romane in einer PowerPoint-Präsentation.</a:t>
            </a:r>
            <a:endParaRPr lang="de-DE" sz="2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1456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8503F-821C-F9AB-BC0D-2446AD4F2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 descr="Ein Bild, das Blume, Pflanze, Himmel, Sonnenblume enthält.&#10;&#10;KI-generierte Inhalte können fehlerhaft sein.">
            <a:extLst>
              <a:ext uri="{FF2B5EF4-FFF2-40B4-BE49-F238E27FC236}">
                <a16:creationId xmlns:a16="http://schemas.microsoft.com/office/drawing/2014/main" id="{691F6766-F630-D02A-10B7-66158BF794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182" b="5047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4D036EA-C843-0494-01A3-3CAF08C3D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90" y="647843"/>
            <a:ext cx="11684816" cy="3332135"/>
          </a:xfrm>
        </p:spPr>
        <p:txBody>
          <a:bodyPr anchor="ctr"/>
          <a:lstStyle/>
          <a:p>
            <a:r>
              <a:rPr lang="de-DE" sz="14000" dirty="0"/>
              <a:t>Titelfolie </a:t>
            </a:r>
            <a:br>
              <a:rPr lang="de-DE" sz="14000" dirty="0"/>
            </a:br>
            <a:r>
              <a:rPr lang="de-DE" sz="14000" dirty="0"/>
              <a:t>mit Bild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963707E-05A0-C5C6-7AF6-B4CC34007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2C6C4-F2B1-F041-8BB2-F4D492F1A18B}" type="datetime2">
              <a:rPr lang="de-DE" smtClean="0"/>
              <a:t>Mittwoch, 8. Oktober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4B6ECB3-8D6D-726E-7286-00EDFFC83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Beispielfußzeile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2C18C5-A206-7474-800A-C80734EF7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D175B-08D9-8E40-A64A-C81A91DD0841}" type="slidenum">
              <a:rPr lang="de-DE" smtClean="0"/>
              <a:t>2</a:t>
            </a:fld>
            <a:endParaRPr lang="de-DE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FCA6AD10-B38C-DB1D-FB61-4C84894D2878}"/>
              </a:ext>
            </a:extLst>
          </p:cNvPr>
          <p:cNvSpPr txBox="1">
            <a:spLocks/>
          </p:cNvSpPr>
          <p:nvPr/>
        </p:nvSpPr>
        <p:spPr>
          <a:xfrm>
            <a:off x="483786" y="4146390"/>
            <a:ext cx="705873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F5F1E9"/>
                </a:solidFill>
                <a:latin typeface="PT Sans" panose="020B05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F5F1E9"/>
                </a:solidFill>
                <a:latin typeface="PT Sans" panose="020B05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F5F1E9"/>
                </a:solidFill>
                <a:latin typeface="PT Sans" panose="020B05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F5F1E9"/>
                </a:solidFill>
                <a:latin typeface="PT Sans" panose="020B05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F5F1E9"/>
                </a:solidFill>
                <a:latin typeface="PT Sans" panose="020B05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sz="2000" dirty="0"/>
              <a:t>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1346554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165CABD-44A1-85C9-151A-F3AA18FDF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546836"/>
            <a:ext cx="9011884" cy="717520"/>
          </a:xfrm>
        </p:spPr>
        <p:txBody>
          <a:bodyPr anchor="ctr">
            <a:noAutofit/>
          </a:bodyPr>
          <a:lstStyle/>
          <a:p>
            <a:r>
              <a:rPr lang="de-DE" sz="6300" dirty="0"/>
              <a:t>Fußzeile einstellen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4F9411-7010-1242-9966-663666879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E496C-9D87-DC42-B9E4-9C1D583C1578}" type="datetime2">
              <a:rPr lang="de-DE" smtClean="0"/>
              <a:t>Mittwoch, 8. Oktober 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BFF168-D79C-E181-B479-4EE602044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Beispielfußzeile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01295A-0335-3A03-5D22-EDD70A85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D175B-08D9-8E40-A64A-C81A91DD0841}" type="slidenum">
              <a:rPr lang="de-DE" smtClean="0"/>
              <a:pPr/>
              <a:t>3</a:t>
            </a:fld>
            <a:endParaRPr lang="de-DE"/>
          </a:p>
        </p:txBody>
      </p:sp>
      <p:pic>
        <p:nvPicPr>
          <p:cNvPr id="7" name="Grafik 9">
            <a:extLst>
              <a:ext uri="{FF2B5EF4-FFF2-40B4-BE49-F238E27FC236}">
                <a16:creationId xmlns:a16="http://schemas.microsoft.com/office/drawing/2014/main" id="{5BAE6D62-92E3-FCC2-B6FE-FC434018CF9F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49832" y="1346004"/>
            <a:ext cx="4296508" cy="5368705"/>
          </a:xfrm>
          <a:prstGeom prst="rect">
            <a:avLst/>
          </a:prstGeom>
          <a:ln w="0">
            <a:noFill/>
          </a:ln>
        </p:spPr>
      </p:pic>
      <p:sp>
        <p:nvSpPr>
          <p:cNvPr id="8" name="Inhaltsplatzhalter 5">
            <a:extLst>
              <a:ext uri="{FF2B5EF4-FFF2-40B4-BE49-F238E27FC236}">
                <a16:creationId xmlns:a16="http://schemas.microsoft.com/office/drawing/2014/main" id="{D2E0DE33-33B6-CCD7-41F6-D8680C20F7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91516" y="1743770"/>
            <a:ext cx="6547338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de-DE" dirty="0"/>
              <a:t>Unter dem Menüreiter </a:t>
            </a:r>
            <a:r>
              <a:rPr lang="de-DE" b="1" dirty="0"/>
              <a:t>„Einfügen“ </a:t>
            </a:r>
            <a:r>
              <a:rPr lang="de-DE" dirty="0"/>
              <a:t>auf </a:t>
            </a:r>
            <a:br>
              <a:rPr lang="de-DE" dirty="0"/>
            </a:br>
            <a:r>
              <a:rPr lang="de-DE" b="1" dirty="0"/>
              <a:t>„Kopf- und Fußzeile“</a:t>
            </a:r>
            <a:r>
              <a:rPr lang="de-DE" dirty="0"/>
              <a:t> klicken.</a:t>
            </a:r>
          </a:p>
          <a:p>
            <a:pPr marL="0" indent="0">
              <a:lnSpc>
                <a:spcPct val="100000"/>
              </a:lnSpc>
              <a:buNone/>
            </a:pPr>
            <a:endParaRPr lang="de-DE" dirty="0"/>
          </a:p>
          <a:p>
            <a:pPr marL="0" indent="0">
              <a:lnSpc>
                <a:spcPct val="100000"/>
              </a:lnSpc>
              <a:buNone/>
            </a:pPr>
            <a:r>
              <a:rPr lang="de-DE" dirty="0"/>
              <a:t>Im Dialogfeld kann</a:t>
            </a:r>
          </a:p>
          <a:p>
            <a:pPr>
              <a:lnSpc>
                <a:spcPct val="100000"/>
              </a:lnSpc>
            </a:pPr>
            <a:r>
              <a:rPr lang="de-DE" dirty="0"/>
              <a:t>Datum</a:t>
            </a:r>
          </a:p>
          <a:p>
            <a:pPr>
              <a:lnSpc>
                <a:spcPct val="100000"/>
              </a:lnSpc>
            </a:pPr>
            <a:r>
              <a:rPr lang="de-DE" dirty="0"/>
              <a:t>Anzeige der Foliennummer</a:t>
            </a:r>
          </a:p>
          <a:p>
            <a:pPr>
              <a:lnSpc>
                <a:spcPct val="100000"/>
              </a:lnSpc>
            </a:pPr>
            <a:r>
              <a:rPr lang="de-DE" dirty="0"/>
              <a:t>Fußzeile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de-DE" dirty="0"/>
              <a:t>für eine oder alle Folien eigestellt werden.</a:t>
            </a:r>
          </a:p>
        </p:txBody>
      </p:sp>
    </p:spTree>
    <p:extLst>
      <p:ext uri="{BB962C8B-B14F-4D97-AF65-F5344CB8AC3E}">
        <p14:creationId xmlns:p14="http://schemas.microsoft.com/office/powerpoint/2010/main" val="3598571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07585-B386-0096-5DE3-33CB6CF5A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7C6020E-BBB0-3752-0F71-5D17D21C9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546836"/>
            <a:ext cx="9011884" cy="717520"/>
          </a:xfrm>
        </p:spPr>
        <p:txBody>
          <a:bodyPr anchor="ctr">
            <a:noAutofit/>
          </a:bodyPr>
          <a:lstStyle/>
          <a:p>
            <a:r>
              <a:rPr lang="de-DE" sz="6300" dirty="0" err="1"/>
              <a:t>GrueneType</a:t>
            </a:r>
            <a:r>
              <a:rPr lang="de-DE" sz="6300" dirty="0"/>
              <a:t> Neue installieren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ECD060-7DB9-B07B-F105-0869DEA41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1CEA-8C78-CE47-BB82-A194AB230B88}" type="datetime2">
              <a:rPr lang="de-DE" smtClean="0"/>
              <a:t>Mittwoch, 8. Oktober 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D6C73C-9EDD-C618-4CD0-D3B5F32F0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Beispielfußzeile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92C785B-72C9-123F-19CC-2790F4DDF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D175B-08D9-8E40-A64A-C81A91DD0841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8" name="Inhaltsplatzhalter 5">
            <a:extLst>
              <a:ext uri="{FF2B5EF4-FFF2-40B4-BE49-F238E27FC236}">
                <a16:creationId xmlns:a16="http://schemas.microsoft.com/office/drawing/2014/main" id="{B2A1F263-C721-733D-7337-C076364513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24718" y="1680721"/>
            <a:ext cx="654733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/>
              <a:t>Die </a:t>
            </a:r>
            <a:r>
              <a:rPr lang="de-DE" dirty="0" err="1"/>
              <a:t>GrueneType</a:t>
            </a:r>
            <a:r>
              <a:rPr lang="de-DE" dirty="0"/>
              <a:t> (eingeführt 2023 mit dem Grundlagendesign) </a:t>
            </a:r>
            <a:r>
              <a:rPr lang="de-DE" b="1" dirty="0"/>
              <a:t>wird durch die </a:t>
            </a:r>
            <a:r>
              <a:rPr lang="de-DE" b="1" dirty="0" err="1"/>
              <a:t>GrueneType</a:t>
            </a:r>
            <a:r>
              <a:rPr lang="de-DE" b="1" dirty="0"/>
              <a:t> Neue ersetzt.</a:t>
            </a:r>
            <a:r>
              <a:rPr lang="de-DE" dirty="0"/>
              <a:t> Es handelt sich dabei um eine aktualisierte Version unserer Headline-Schrift, die sowohl optisch als auch technisch angepasst wurde, um den Anforderungen an eine gute Schrift gerecht zu werden. 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Stelle sicher, dass du sie installiert hast. </a:t>
            </a:r>
            <a:r>
              <a:rPr lang="de-DE" dirty="0"/>
              <a:t>Zum Download geht’s </a:t>
            </a:r>
            <a:r>
              <a:rPr lang="de-DE" dirty="0">
                <a:hlinkClick r:id="rId2"/>
              </a:rPr>
              <a:t>hier</a:t>
            </a:r>
            <a:r>
              <a:rPr lang="de-DE" dirty="0"/>
              <a:t> entlang.</a:t>
            </a:r>
          </a:p>
          <a:p>
            <a:pPr marL="0" indent="0">
              <a:lnSpc>
                <a:spcPct val="100000"/>
              </a:lnSpc>
              <a:buNone/>
            </a:pPr>
            <a:endParaRPr lang="de-DE" sz="2500" b="1" dirty="0"/>
          </a:p>
        </p:txBody>
      </p:sp>
      <p:pic>
        <p:nvPicPr>
          <p:cNvPr id="9" name="Grafik 8" descr="Ein Bild, das Text, Screenshot, Software, Schrift enthält.&#10;&#10;KI-generierte Inhalte können fehlerhaft sein.">
            <a:extLst>
              <a:ext uri="{FF2B5EF4-FFF2-40B4-BE49-F238E27FC236}">
                <a16:creationId xmlns:a16="http://schemas.microsoft.com/office/drawing/2014/main" id="{A3FC8285-EAFC-0AD2-DFEE-65FDD7D0F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44" y="1535143"/>
            <a:ext cx="5004774" cy="447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575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AA40EA-3780-E71C-C694-FBB02C028A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4073" y="1825625"/>
            <a:ext cx="4929748" cy="30618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1800" b="1" dirty="0"/>
              <a:t>Du brauchst Bilder?</a:t>
            </a:r>
          </a:p>
          <a:p>
            <a:pPr marL="0" indent="0">
              <a:buNone/>
            </a:pPr>
            <a:r>
              <a:rPr lang="de-DE" sz="1800" dirty="0"/>
              <a:t>Neben Typografie und Farbwelt ist die </a:t>
            </a:r>
            <a:r>
              <a:rPr lang="de-DE" sz="1800" b="1" dirty="0"/>
              <a:t>Bildsprache</a:t>
            </a:r>
            <a:r>
              <a:rPr lang="de-DE" sz="1800" dirty="0"/>
              <a:t> eines der mächtigsten Werkzeuge für eine professionelle und emotional ansprechende Gestaltung. </a:t>
            </a:r>
          </a:p>
          <a:p>
            <a:pPr marL="0" indent="0">
              <a:buNone/>
            </a:pPr>
            <a:r>
              <a:rPr lang="de-DE" sz="1800" dirty="0">
                <a:hlinkClick r:id="rId3"/>
              </a:rPr>
              <a:t>Hier</a:t>
            </a:r>
            <a:r>
              <a:rPr lang="de-DE" sz="1800" dirty="0"/>
              <a:t> findest du Anlaufstellen, bei denen du passendes Bildmaterial finden kannst.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593963A-4D75-B70B-0FA3-61C146676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554455"/>
            <a:ext cx="10515600" cy="721189"/>
          </a:xfrm>
        </p:spPr>
        <p:txBody>
          <a:bodyPr anchor="ctr">
            <a:normAutofit fontScale="90000"/>
          </a:bodyPr>
          <a:lstStyle/>
          <a:p>
            <a:r>
              <a:rPr lang="de-DE" sz="7000" dirty="0"/>
              <a:t>Sonstige Tipps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66DBC27-837F-1746-BDEA-6F8DAF225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616A-7E65-804C-89A5-0C1D2BFE673B}" type="datetime2">
              <a:rPr lang="de-DE" smtClean="0"/>
              <a:t>Mittwoch, 8. Oktober 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E195B80-2625-6AAD-6125-A56AFD58E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Beispielfußzeile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AC40A73-AC8E-9D56-891B-D85891977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D175B-08D9-8E40-A64A-C81A91DD0841}" type="slidenum">
              <a:rPr lang="de-DE" smtClean="0"/>
              <a:t>5</a:t>
            </a:fld>
            <a:endParaRPr lang="de-DE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1CF695A2-D5C1-2748-D656-184BF5ED77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0" y="4587108"/>
            <a:ext cx="421497" cy="465653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381F0F8-FF91-773D-6750-6F50056A70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34139" y="4514413"/>
            <a:ext cx="654427" cy="654427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23350BEE-B313-0E98-9784-9FBED194E4C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52084" y="4514414"/>
            <a:ext cx="654426" cy="654426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50416245-272B-D237-F39A-EABD6399291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73354" y="5111791"/>
            <a:ext cx="345281" cy="50800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7B1F7B54-A875-3CEC-DC02-5C637B8443E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237631" y="4587108"/>
            <a:ext cx="374349" cy="465654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90500E10-05F8-F4A7-872C-EB4D3C1E20B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322507" y="4605856"/>
            <a:ext cx="282456" cy="466837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47484E80-7BD4-757A-4AD2-92BE6C23923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142219" y="5283104"/>
            <a:ext cx="472044" cy="237852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823B74A5-3ACE-4B35-454D-52679D4A0A6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842437" y="4536703"/>
            <a:ext cx="315003" cy="549127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481B3043-3F29-1A13-EE8B-1140447A25C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085364" y="5162383"/>
            <a:ext cx="442770" cy="457408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ECCB0FB3-C6F7-FA7D-9ADF-D7CCBE9AD5F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772553" y="5147401"/>
            <a:ext cx="420814" cy="483021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55C62B83-B2A0-5447-1719-D3E5FF302C34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247335" y="5263216"/>
            <a:ext cx="419394" cy="292023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1EE2F2C6-3F8E-6C36-0D61-EDD69D064B1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094448" y="5230516"/>
            <a:ext cx="550960" cy="305077"/>
          </a:xfrm>
          <a:prstGeom prst="rect">
            <a:avLst/>
          </a:prstGeom>
        </p:spPr>
      </p:pic>
      <p:pic>
        <p:nvPicPr>
          <p:cNvPr id="44" name="Grafik 43">
            <a:extLst>
              <a:ext uri="{FF2B5EF4-FFF2-40B4-BE49-F238E27FC236}">
                <a16:creationId xmlns:a16="http://schemas.microsoft.com/office/drawing/2014/main" id="{71BF4429-440C-D65F-3EDB-4CB68AE580D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726210" y="5178249"/>
            <a:ext cx="252489" cy="450087"/>
          </a:xfrm>
          <a:prstGeom prst="rect">
            <a:avLst/>
          </a:prstGeom>
        </p:spPr>
      </p:pic>
      <p:pic>
        <p:nvPicPr>
          <p:cNvPr id="46" name="Grafik 45">
            <a:extLst>
              <a:ext uri="{FF2B5EF4-FFF2-40B4-BE49-F238E27FC236}">
                <a16:creationId xmlns:a16="http://schemas.microsoft.com/office/drawing/2014/main" id="{691F5078-6AAB-A778-B4BA-1D6207EF815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628901" y="4705711"/>
            <a:ext cx="472044" cy="267126"/>
          </a:xfrm>
          <a:prstGeom prst="rect">
            <a:avLst/>
          </a:prstGeom>
        </p:spPr>
      </p:pic>
      <p:sp>
        <p:nvSpPr>
          <p:cNvPr id="47" name="Inhaltsplatzhalter 2">
            <a:extLst>
              <a:ext uri="{FF2B5EF4-FFF2-40B4-BE49-F238E27FC236}">
                <a16:creationId xmlns:a16="http://schemas.microsoft.com/office/drawing/2014/main" id="{1DD15FB1-35A9-53BF-B7D1-0F7E4711CC43}"/>
              </a:ext>
            </a:extLst>
          </p:cNvPr>
          <p:cNvSpPr txBox="1">
            <a:spLocks/>
          </p:cNvSpPr>
          <p:nvPr/>
        </p:nvSpPr>
        <p:spPr>
          <a:xfrm>
            <a:off x="5989818" y="1825625"/>
            <a:ext cx="4588042" cy="30618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F5F1E9"/>
                </a:solidFill>
                <a:latin typeface="PT Sans" panose="020B05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F5F1E9"/>
                </a:solidFill>
                <a:latin typeface="PT Sans" panose="020B05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F5F1E9"/>
                </a:solidFill>
                <a:latin typeface="PT Sans" panose="020B05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F5F1E9"/>
                </a:solidFill>
                <a:latin typeface="PT Sans" panose="020B05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F5F1E9"/>
                </a:solidFill>
                <a:latin typeface="PT Sans" panose="020B05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800" b="1" dirty="0">
                <a:solidFill>
                  <a:schemeClr val="bg1"/>
                </a:solidFill>
              </a:rPr>
              <a:t>Du brauchst Icons?</a:t>
            </a:r>
          </a:p>
          <a:p>
            <a:pPr marL="0" indent="0">
              <a:buNone/>
            </a:pPr>
            <a:r>
              <a:rPr lang="de-DE" sz="1800" dirty="0">
                <a:solidFill>
                  <a:schemeClr val="bg1"/>
                </a:solidFill>
              </a:rPr>
              <a:t>Die Gängigsten findest du unten. </a:t>
            </a:r>
            <a:br>
              <a:rPr lang="de-DE" sz="1800" dirty="0">
                <a:solidFill>
                  <a:schemeClr val="bg1"/>
                </a:solidFill>
              </a:rPr>
            </a:br>
            <a:r>
              <a:rPr lang="de-DE" sz="1800" dirty="0">
                <a:solidFill>
                  <a:schemeClr val="bg1"/>
                </a:solidFill>
              </a:rPr>
              <a:t>Weitere lizenzfreie Icons gibt’s z. B. hier:</a:t>
            </a:r>
          </a:p>
          <a:p>
            <a:pPr>
              <a:buClr>
                <a:schemeClr val="bg1"/>
              </a:buClr>
            </a:pPr>
            <a:r>
              <a:rPr lang="de-DE" sz="1800" dirty="0" err="1">
                <a:solidFill>
                  <a:schemeClr val="bg1"/>
                </a:solidFill>
              </a:rPr>
              <a:t>thenounproject.com</a:t>
            </a:r>
            <a:r>
              <a:rPr lang="de-DE" sz="1800" dirty="0">
                <a:solidFill>
                  <a:schemeClr val="bg1"/>
                </a:solidFill>
              </a:rPr>
              <a:t>  </a:t>
            </a:r>
          </a:p>
          <a:p>
            <a:pPr>
              <a:buClr>
                <a:schemeClr val="bg1"/>
              </a:buClr>
            </a:pPr>
            <a:r>
              <a:rPr lang="de-DE" sz="1800" dirty="0" err="1">
                <a:solidFill>
                  <a:schemeClr val="bg1"/>
                </a:solidFill>
              </a:rPr>
              <a:t>freepik.com</a:t>
            </a:r>
            <a:endParaRPr lang="de-DE" sz="1800" dirty="0">
              <a:solidFill>
                <a:schemeClr val="bg1"/>
              </a:solidFill>
            </a:endParaRPr>
          </a:p>
          <a:p>
            <a:pPr marL="0" indent="0">
              <a:buClr>
                <a:schemeClr val="bg1"/>
              </a:buClr>
              <a:buNone/>
            </a:pPr>
            <a:r>
              <a:rPr lang="de-DE" sz="1800" dirty="0">
                <a:solidFill>
                  <a:schemeClr val="bg1"/>
                </a:solidFill>
              </a:rPr>
              <a:t>Da viele Anbieter Urhebernennung erfordern, kannst du sie in der Fußzeile hinzufügen.</a:t>
            </a:r>
          </a:p>
        </p:txBody>
      </p:sp>
    </p:spTree>
    <p:extLst>
      <p:ext uri="{BB962C8B-B14F-4D97-AF65-F5344CB8AC3E}">
        <p14:creationId xmlns:p14="http://schemas.microsoft.com/office/powerpoint/2010/main" val="4097458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9D90F20-B0ED-7A57-B1FB-8C9694C1B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3ED12-41B9-FB49-94D4-9B4A6FE0FF5D}" type="datetime2">
              <a:rPr lang="de-DE" smtClean="0"/>
              <a:t>Mittwoch, 8. Oktober 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2649138-BC23-9BB0-20C9-08FF1B0CB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Beispielfußzeile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599B371-6BE0-B8BA-2BA1-AD357DEB4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D175B-08D9-8E40-A64A-C81A91DD0841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23CE7BA-2383-B810-C680-12FB486BA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Tagesordnung Vorlage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B67753D-4E73-C423-E5E8-456882A160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Clr>
                <a:schemeClr val="accent2"/>
              </a:buClr>
              <a:buFont typeface="+mj-lt"/>
              <a:buAutoNum type="arabicPeriod"/>
            </a:pPr>
            <a:r>
              <a:rPr lang="de-DE" dirty="0"/>
              <a:t>Erster Tagesordnungspunkt</a:t>
            </a:r>
          </a:p>
          <a:p>
            <a:pPr marL="457200" indent="-457200">
              <a:buClr>
                <a:schemeClr val="accent2"/>
              </a:buClr>
              <a:buFont typeface="+mj-lt"/>
              <a:buAutoNum type="arabicPeriod"/>
            </a:pPr>
            <a:r>
              <a:rPr lang="de-DE" dirty="0"/>
              <a:t>Zweiter </a:t>
            </a:r>
            <a:r>
              <a:rPr lang="de-DE" dirty="0" err="1"/>
              <a:t>Tagesordnerungpunkt</a:t>
            </a:r>
            <a:endParaRPr lang="de-DE" dirty="0"/>
          </a:p>
          <a:p>
            <a:pPr marL="914400" lvl="1" indent="-457200">
              <a:buClr>
                <a:schemeClr val="accent2"/>
              </a:buClr>
              <a:buFont typeface="+mj-lt"/>
              <a:buAutoNum type="arabicPeriod"/>
            </a:pPr>
            <a:r>
              <a:rPr lang="de-DE" dirty="0"/>
              <a:t>Erster Unterpunkt</a:t>
            </a:r>
          </a:p>
          <a:p>
            <a:pPr marL="914400" lvl="1" indent="-457200">
              <a:buClr>
                <a:schemeClr val="accent2"/>
              </a:buClr>
              <a:buFont typeface="+mj-lt"/>
              <a:buAutoNum type="arabicPeriod"/>
            </a:pPr>
            <a:r>
              <a:rPr lang="de-DE" dirty="0"/>
              <a:t>Zweiter Unterpunkt</a:t>
            </a:r>
          </a:p>
          <a:p>
            <a:pPr marL="457200" indent="-457200">
              <a:buClr>
                <a:schemeClr val="accent2"/>
              </a:buClr>
              <a:buFont typeface="+mj-lt"/>
              <a:buAutoNum type="arabicPeriod"/>
            </a:pPr>
            <a:r>
              <a:rPr lang="de-DE" dirty="0"/>
              <a:t>Dritter Tagesordnungspunkt</a:t>
            </a:r>
          </a:p>
          <a:p>
            <a:pPr marL="457200" indent="-457200">
              <a:buClr>
                <a:schemeClr val="accent2"/>
              </a:buClr>
              <a:buFont typeface="+mj-lt"/>
              <a:buAutoNum type="arabicPeriod"/>
            </a:pPr>
            <a:r>
              <a:rPr lang="de-DE" dirty="0"/>
              <a:t>Vierter Tagesordnungspunkt</a:t>
            </a:r>
          </a:p>
        </p:txBody>
      </p:sp>
    </p:spTree>
    <p:extLst>
      <p:ext uri="{BB962C8B-B14F-4D97-AF65-F5344CB8AC3E}">
        <p14:creationId xmlns:p14="http://schemas.microsoft.com/office/powerpoint/2010/main" val="1899006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Pflanze, Blume, Sonnenblume, Himmel enthält.&#10;&#10;KI-generierte Inhalte können fehlerhaft sein.">
            <a:extLst>
              <a:ext uri="{FF2B5EF4-FFF2-40B4-BE49-F238E27FC236}">
                <a16:creationId xmlns:a16="http://schemas.microsoft.com/office/drawing/2014/main" id="{FAB34E0B-A9B4-CC6E-358B-50AC7B0A60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280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B889813-F1EF-D1CB-B038-14CD050E0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4D8C-D738-B14C-8640-4D7D54A53041}" type="datetime2">
              <a:rPr lang="de-DE" smtClean="0"/>
              <a:t>Mittwoch, 8. Oktober 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0A4DD75-B7E5-1067-28AF-38BD6D9EB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Beispielfußzeile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77BF523-FE49-F257-C7D1-EA0EF403B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D175B-08D9-8E40-A64A-C81A91DD0841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9E113FD-7FFE-5A67-F93A-69D1CF215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512764"/>
            <a:ext cx="10515600" cy="1519236"/>
          </a:xfrm>
        </p:spPr>
        <p:txBody>
          <a:bodyPr anchor="ctr">
            <a:noAutofit/>
          </a:bodyPr>
          <a:lstStyle/>
          <a:p>
            <a:r>
              <a:rPr lang="de-DE" dirty="0"/>
              <a:t>Beispiel mit </a:t>
            </a:r>
            <a:br>
              <a:rPr lang="de-DE" dirty="0"/>
            </a:br>
            <a:r>
              <a:rPr lang="de-DE" dirty="0"/>
              <a:t>Text &amp; Bild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3100DC2-0879-9D54-FE46-E82BD6B0D7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8" y="2324098"/>
            <a:ext cx="4493944" cy="4351338"/>
          </a:xfrm>
        </p:spPr>
        <p:txBody>
          <a:bodyPr/>
          <a:lstStyle/>
          <a:p>
            <a:r>
              <a:rPr lang="de-DE" dirty="0"/>
              <a:t>Hier könnten ein paar deiner Gedanken stehen. Teile Punkte lieber auf mehrere Slides auf und verwende Fotos, um deine Punkte zu illustrieren. </a:t>
            </a:r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00F013D0-650A-61F0-162C-C5B334D37BBD}"/>
              </a:ext>
            </a:extLst>
          </p:cNvPr>
          <p:cNvSpPr/>
          <p:nvPr/>
        </p:nvSpPr>
        <p:spPr>
          <a:xfrm rot="21180000">
            <a:off x="5625255" y="622823"/>
            <a:ext cx="1923840" cy="192384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36000" anchor="ctr">
            <a:noAutofit/>
          </a:bodyPr>
          <a:lstStyle/>
          <a:p>
            <a:pPr algn="ctr">
              <a:lnSpc>
                <a:spcPts val="2999"/>
              </a:lnSpc>
              <a:buNone/>
            </a:pPr>
            <a:r>
              <a:rPr lang="de-DE" sz="2400" b="0" strike="noStrike" spc="-1" dirty="0">
                <a:solidFill>
                  <a:srgbClr val="F5F1E9"/>
                </a:solidFill>
                <a:latin typeface="GrueneType Neue" panose="02000000000000000000" pitchFamily="2" charset="77"/>
              </a:rPr>
              <a:t>Hier steht der Störer-Text.</a:t>
            </a:r>
            <a:endParaRPr lang="de-DE" sz="2400" b="0" strike="noStrike" spc="-1" dirty="0">
              <a:solidFill>
                <a:srgbClr val="000000"/>
              </a:solidFill>
              <a:latin typeface="GrueneType Neue" panose="02000000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58687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B6AF4-8BF6-BAE5-0D4B-125E43496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Pflanze, Blume, Sonnenblume, Himmel enthält.&#10;&#10;KI-generierte Inhalte können fehlerhaft sein.">
            <a:extLst>
              <a:ext uri="{FF2B5EF4-FFF2-40B4-BE49-F238E27FC236}">
                <a16:creationId xmlns:a16="http://schemas.microsoft.com/office/drawing/2014/main" id="{ABA58446-BF8F-B1DD-DDDB-B54DFC7F8A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280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2ACEC2B-8016-4A50-A107-E5DBE2A08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5A961-DE3A-E145-A5FC-68BCC1B1C1C5}" type="datetime2">
              <a:rPr lang="de-DE" smtClean="0"/>
              <a:t>Mittwoch, 8. Oktober 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DAA41D4-0006-03B4-68B8-6E9B2B691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Beispielfußzeile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4BE88F7-7BC1-A2A3-8D25-6A1CA09C0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D175B-08D9-8E40-A64A-C81A91DD0841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D1A0FA3F-3253-0919-1F79-28F3664BF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212" y="512764"/>
            <a:ext cx="10515600" cy="1519236"/>
          </a:xfrm>
        </p:spPr>
        <p:txBody>
          <a:bodyPr anchor="ctr">
            <a:noAutofit/>
          </a:bodyPr>
          <a:lstStyle/>
          <a:p>
            <a:r>
              <a:rPr lang="de-DE" dirty="0"/>
              <a:t>Beispiel mit </a:t>
            </a:r>
            <a:br>
              <a:rPr lang="de-DE" dirty="0"/>
            </a:br>
            <a:r>
              <a:rPr lang="de-DE" dirty="0"/>
              <a:t>Text &amp; Bild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EC948EC-B6A1-912A-B758-02A1FFEB87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79212" y="2324098"/>
            <a:ext cx="4493944" cy="4351338"/>
          </a:xfrm>
        </p:spPr>
        <p:txBody>
          <a:bodyPr/>
          <a:lstStyle/>
          <a:p>
            <a:r>
              <a:rPr lang="de-DE" dirty="0"/>
              <a:t>Hier könnten ein paar deiner Gedanken stehen. Teile Punkte lieber auf mehrere Slides auf und verwende Fotos, um deine Punkte zu illustrieren. </a:t>
            </a:r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C7949065-2901-ED8D-A5BE-EF06F2A7F6DC}"/>
              </a:ext>
            </a:extLst>
          </p:cNvPr>
          <p:cNvSpPr/>
          <p:nvPr/>
        </p:nvSpPr>
        <p:spPr>
          <a:xfrm rot="21180000">
            <a:off x="859134" y="290200"/>
            <a:ext cx="1923840" cy="192384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36000" anchor="ctr">
            <a:noAutofit/>
          </a:bodyPr>
          <a:lstStyle/>
          <a:p>
            <a:pPr algn="ctr">
              <a:lnSpc>
                <a:spcPts val="2999"/>
              </a:lnSpc>
              <a:buNone/>
            </a:pPr>
            <a:r>
              <a:rPr lang="de-DE" sz="2400" b="0" strike="noStrike" spc="-1" dirty="0">
                <a:solidFill>
                  <a:srgbClr val="F5F1E9"/>
                </a:solidFill>
                <a:latin typeface="GrueneType Neue" panose="02000000000000000000" pitchFamily="2" charset="77"/>
              </a:rPr>
              <a:t>Hier steht der Störer-Text.</a:t>
            </a:r>
            <a:endParaRPr lang="de-DE" sz="2400" b="0" strike="noStrike" spc="-1" dirty="0">
              <a:solidFill>
                <a:srgbClr val="000000"/>
              </a:solidFill>
              <a:latin typeface="GrueneType Neue" panose="02000000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57778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C5C9BCB-43B7-EB84-E569-DEA83B68E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E475-120B-FC4A-9744-9520C17AC451}" type="datetime2">
              <a:rPr lang="de-DE" smtClean="0"/>
              <a:t>Mittwoch, 8. Oktober 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B4EA172-4FF9-FDF4-F2CA-37B52CD7F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Beispielfußzeile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68CC18D-C998-A7A9-D25D-6D25A8EA0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D175B-08D9-8E40-A64A-C81A91DD0841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787F6FD-7EDE-6A28-CFA7-61FB9E967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r>
              <a:rPr lang="de-DE" dirty="0"/>
              <a:t>Textfolie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99E74CD-2A05-58E3-A5D3-02FCE89AB7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38327"/>
            <a:ext cx="11316833" cy="2025462"/>
          </a:xfrm>
        </p:spPr>
        <p:txBody>
          <a:bodyPr numCol="2"/>
          <a:lstStyle/>
          <a:p>
            <a:r>
              <a:rPr lang="de-DE" dirty="0"/>
              <a:t>Hier steht nur Text. Ein bisschen langweilig, aber manchmal muss auch das sein. Denn nicht zu jedem Gedanken gibt es das passende Bild. </a:t>
            </a:r>
          </a:p>
          <a:p>
            <a:r>
              <a:rPr lang="de-DE" dirty="0"/>
              <a:t>Ein guter Trick: Achte darauf, dass deine Zeilen nicht zu lang werden. Das menschliche Auge kann einer zu langen Zeile schwer folgen und verrutscht beim </a:t>
            </a:r>
            <a:r>
              <a:rPr lang="de-DE" dirty="0" err="1"/>
              <a:t>Zeilenumsprung</a:t>
            </a:r>
            <a:r>
              <a:rPr lang="de-DE" dirty="0"/>
              <a:t>. </a:t>
            </a:r>
            <a:r>
              <a:rPr lang="de-DE" b="1" dirty="0"/>
              <a:t>Versuche deinen Text in zwei Spalten anzulegen. </a:t>
            </a:r>
            <a:r>
              <a:rPr lang="de-DE" dirty="0"/>
              <a:t>So macht auch das Lesen längerer Texte noch Spaß.</a:t>
            </a:r>
          </a:p>
        </p:txBody>
      </p:sp>
      <p:sp>
        <p:nvSpPr>
          <p:cNvPr id="7" name="Oval 10">
            <a:extLst>
              <a:ext uri="{FF2B5EF4-FFF2-40B4-BE49-F238E27FC236}">
                <a16:creationId xmlns:a16="http://schemas.microsoft.com/office/drawing/2014/main" id="{A794E99A-9626-B9FC-B99B-CF1E69950BC5}"/>
              </a:ext>
            </a:extLst>
          </p:cNvPr>
          <p:cNvSpPr/>
          <p:nvPr/>
        </p:nvSpPr>
        <p:spPr>
          <a:xfrm rot="21180000">
            <a:off x="9642162" y="4155765"/>
            <a:ext cx="1923840" cy="19238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36000" anchor="ctr">
            <a:noAutofit/>
          </a:bodyPr>
          <a:lstStyle/>
          <a:p>
            <a:pPr algn="ctr">
              <a:lnSpc>
                <a:spcPts val="2999"/>
              </a:lnSpc>
              <a:buNone/>
            </a:pPr>
            <a:r>
              <a:rPr lang="de-DE" sz="2400" b="0" strike="noStrike" spc="-1" dirty="0">
                <a:solidFill>
                  <a:srgbClr val="F5F1E9"/>
                </a:solidFill>
                <a:latin typeface="GrueneType Neue" panose="02000000000000000000" pitchFamily="2" charset="77"/>
              </a:rPr>
              <a:t>Hier steht der Störer-Text.</a:t>
            </a:r>
            <a:endParaRPr lang="de-DE" sz="2400" b="0" strike="noStrike" spc="-1" dirty="0">
              <a:solidFill>
                <a:srgbClr val="000000"/>
              </a:solidFill>
              <a:latin typeface="GrueneType Neue" panose="02000000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60823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8EB63-8E1F-FC2F-AEEB-A8D555677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E443601-7568-ADF7-270C-68D5B1E32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8F97C-3D8F-6446-8A3B-FB9C17CCBB8D}" type="datetime2">
              <a:rPr lang="de-DE" smtClean="0"/>
              <a:t>Mittwoch, 8. Oktober 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44FE6D9-B71C-54BD-5113-01A028B86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Beispielfußzeile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60B0F84-150E-6977-320F-15F0EDDDF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D175B-08D9-8E40-A64A-C81A91DD0841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4B01F048-7531-EA84-E0E7-0BED4FA96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r>
              <a:rPr lang="de-DE" dirty="0"/>
              <a:t>Diagramm Vorlage</a:t>
            </a:r>
          </a:p>
        </p:txBody>
      </p:sp>
      <p:graphicFrame>
        <p:nvGraphicFramePr>
          <p:cNvPr id="10" name="Inhaltsplatzhalter 9">
            <a:extLst>
              <a:ext uri="{FF2B5EF4-FFF2-40B4-BE49-F238E27FC236}">
                <a16:creationId xmlns:a16="http://schemas.microsoft.com/office/drawing/2014/main" id="{D87D2335-DA2D-F3DA-8EEA-A86AAC9E5C7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41511555"/>
              </p:ext>
            </p:extLst>
          </p:nvPr>
        </p:nvGraphicFramePr>
        <p:xfrm>
          <a:off x="515938" y="18383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Diagramm 10">
            <a:extLst>
              <a:ext uri="{FF2B5EF4-FFF2-40B4-BE49-F238E27FC236}">
                <a16:creationId xmlns:a16="http://schemas.microsoft.com/office/drawing/2014/main" id="{D850D930-1551-2CA2-BCA2-411151DF87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562141"/>
              </p:ext>
            </p:extLst>
          </p:nvPr>
        </p:nvGraphicFramePr>
        <p:xfrm>
          <a:off x="5697538" y="1749700"/>
          <a:ext cx="6442697" cy="43000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72411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65BB0-0CC2-1DFF-12B4-EB3504648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5239348-A6B9-80EE-B79F-B9F9EE4B9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8075-A694-6449-A1D8-295A1C21CF3B}" type="datetime2">
              <a:rPr lang="de-DE" smtClean="0"/>
              <a:t>Mittwoch, 8. Oktober 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00F09B6-2D64-120B-8BAF-3D47958DF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Beispielfußzeile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2D025EC-D9FF-89B5-DE8F-9A8369305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D175B-08D9-8E40-A64A-C81A91DD0841}" type="slidenum">
              <a:rPr lang="de-DE" smtClean="0"/>
              <a:pPr/>
              <a:t>11</a:t>
            </a:fld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679236D-E97B-1318-2351-DD5A55BA49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646" y="512762"/>
            <a:ext cx="3054892" cy="2347443"/>
          </a:xfrm>
          <a:prstGeom prst="rect">
            <a:avLst/>
          </a:prstGeom>
        </p:spPr>
      </p:pic>
      <p:sp>
        <p:nvSpPr>
          <p:cNvPr id="18" name="Inhaltsplatzhalter 5">
            <a:extLst>
              <a:ext uri="{FF2B5EF4-FFF2-40B4-BE49-F238E27FC236}">
                <a16:creationId xmlns:a16="http://schemas.microsoft.com/office/drawing/2014/main" id="{146AEA5C-6D8E-1F0B-A8EC-37F6AEE16F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3602" y="1683491"/>
            <a:ext cx="6081871" cy="4293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2500" dirty="0"/>
              <a:t>Zusammenbringen, was zusammen gehört: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5337F16E-0C5C-F39B-69AA-822652AC5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46" y="2224237"/>
            <a:ext cx="11300257" cy="3616480"/>
          </a:xfrm>
        </p:spPr>
        <p:txBody>
          <a:bodyPr>
            <a:normAutofit/>
          </a:bodyPr>
          <a:lstStyle/>
          <a:p>
            <a:pPr marL="0" indent="0"/>
            <a:r>
              <a:rPr lang="de-DE" dirty="0"/>
              <a:t>Wir schützen </a:t>
            </a:r>
            <a:r>
              <a:rPr lang="de-DE" dirty="0">
                <a:solidFill>
                  <a:schemeClr val="accent2"/>
                </a:solidFill>
              </a:rPr>
              <a:t>Klima &amp; Wirtschaft, </a:t>
            </a:r>
            <a:r>
              <a:rPr lang="de-DE" dirty="0"/>
              <a:t>sorgen für </a:t>
            </a:r>
            <a:r>
              <a:rPr lang="de-DE" dirty="0">
                <a:solidFill>
                  <a:schemeClr val="accent2"/>
                </a:solidFill>
              </a:rPr>
              <a:t>Gerechtigkeit,</a:t>
            </a:r>
            <a:r>
              <a:rPr lang="de-DE" dirty="0"/>
              <a:t> verteidigen </a:t>
            </a:r>
            <a:r>
              <a:rPr lang="de-DE" dirty="0">
                <a:solidFill>
                  <a:schemeClr val="accent2"/>
                </a:solidFill>
              </a:rPr>
              <a:t>Demokratie &amp; Freiheit</a:t>
            </a:r>
            <a:r>
              <a:rPr lang="de-DE" dirty="0"/>
              <a:t> und schaffen </a:t>
            </a:r>
            <a:r>
              <a:rPr lang="de-DE" dirty="0">
                <a:solidFill>
                  <a:schemeClr val="accent2"/>
                </a:solidFill>
              </a:rPr>
              <a:t>Frieden &amp; Sicherheit.</a:t>
            </a:r>
            <a:endParaRPr lang="de-DE" sz="72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9450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29663-486A-60FB-F039-E57F672DA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2D92D125-FB66-1AE0-239A-41E117ED55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74" t="27757" r="210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2AC06D9-2DD3-36DB-751F-AAA85AE27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A6EE8-F8C3-3642-A30D-5230EE1D2955}" type="datetime2">
              <a:rPr lang="de-DE" smtClean="0"/>
              <a:t>Mittwoch, 8. Oktober 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41C71C0-C4F2-094D-2600-0A73A16C0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Beispielfußzeile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F6F0DE1-0F70-2A51-F94F-43515A7F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D175B-08D9-8E40-A64A-C81A91DD0841}" type="slidenum">
              <a:rPr lang="de-DE" smtClean="0"/>
              <a:pPr/>
              <a:t>12</a:t>
            </a:fld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A611A395-61A5-A054-85CA-69C51356A1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646" y="512762"/>
            <a:ext cx="3054892" cy="2347443"/>
          </a:xfrm>
          <a:prstGeom prst="rect">
            <a:avLst/>
          </a:prstGeom>
        </p:spPr>
      </p:pic>
      <p:sp>
        <p:nvSpPr>
          <p:cNvPr id="18" name="Inhaltsplatzhalter 5">
            <a:extLst>
              <a:ext uri="{FF2B5EF4-FFF2-40B4-BE49-F238E27FC236}">
                <a16:creationId xmlns:a16="http://schemas.microsoft.com/office/drawing/2014/main" id="{94C8C884-AF4D-F395-E589-762F033D13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3602" y="1683491"/>
            <a:ext cx="6081871" cy="4293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2500" dirty="0"/>
              <a:t>Zusammenbringen, was zusammen gehört:</a:t>
            </a:r>
          </a:p>
        </p:txBody>
      </p:sp>
      <p:sp>
        <p:nvSpPr>
          <p:cNvPr id="12" name="Titel 16">
            <a:extLst>
              <a:ext uri="{FF2B5EF4-FFF2-40B4-BE49-F238E27FC236}">
                <a16:creationId xmlns:a16="http://schemas.microsoft.com/office/drawing/2014/main" id="{9FD4DD95-EE22-A857-95FF-50FCE99A9315}"/>
              </a:ext>
            </a:extLst>
          </p:cNvPr>
          <p:cNvSpPr txBox="1">
            <a:spLocks/>
          </p:cNvSpPr>
          <p:nvPr/>
        </p:nvSpPr>
        <p:spPr>
          <a:xfrm>
            <a:off x="539647" y="2224237"/>
            <a:ext cx="9047266" cy="426863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000" kern="1200">
                <a:solidFill>
                  <a:srgbClr val="F5F1E9"/>
                </a:solidFill>
                <a:latin typeface="GrueneType Neue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de-DE" sz="5500" dirty="0"/>
              <a:t>Wir schützen Klima &amp; Wirtschaft, sorgen für Gerechtigkeit, verteidigen Demokratie &amp; Freiheit und schaffen Frieden &amp; Sicherheit.</a:t>
            </a:r>
            <a:endParaRPr lang="de-DE" sz="5500" b="1" dirty="0"/>
          </a:p>
        </p:txBody>
      </p:sp>
    </p:spTree>
    <p:extLst>
      <p:ext uri="{BB962C8B-B14F-4D97-AF65-F5344CB8AC3E}">
        <p14:creationId xmlns:p14="http://schemas.microsoft.com/office/powerpoint/2010/main" val="2508927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Pflanze, Blume, Sonnenblume, Himmel enthält.&#10;&#10;KI-generierte Inhalte können fehlerhaft sein.">
            <a:extLst>
              <a:ext uri="{FF2B5EF4-FFF2-40B4-BE49-F238E27FC236}">
                <a16:creationId xmlns:a16="http://schemas.microsoft.com/office/drawing/2014/main" id="{37D07179-1FC8-FE1D-326D-8143EBBE45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264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4B9D998-36A0-7916-6BC6-EE45F900B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29D46-8A1B-5648-B39D-99C122CE7506}" type="datetime2">
              <a:rPr lang="de-DE" smtClean="0"/>
              <a:t>Mittwoch, 8. Oktober 2025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718F986-7085-5556-C45F-5FDB35EE6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Beispielfußzeile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B13EDA7-1411-859E-827F-9D5761F4C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D175B-08D9-8E40-A64A-C81A91DD0841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9E1D838-BB5C-05AD-1893-47C1B41D6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r>
              <a:rPr lang="de-DE" dirty="0"/>
              <a:t>Bildfolie</a:t>
            </a:r>
          </a:p>
        </p:txBody>
      </p:sp>
    </p:spTree>
    <p:extLst>
      <p:ext uri="{BB962C8B-B14F-4D97-AF65-F5344CB8AC3E}">
        <p14:creationId xmlns:p14="http://schemas.microsoft.com/office/powerpoint/2010/main" val="247099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1">
            <a:extLst>
              <a:ext uri="{FF2B5EF4-FFF2-40B4-BE49-F238E27FC236}">
                <a16:creationId xmlns:a16="http://schemas.microsoft.com/office/drawing/2014/main" id="{9B443475-B5BE-7A9B-10C2-8E67C6C88815}"/>
              </a:ext>
            </a:extLst>
          </p:cNvPr>
          <p:cNvSpPr/>
          <p:nvPr/>
        </p:nvSpPr>
        <p:spPr>
          <a:xfrm>
            <a:off x="588960" y="3041126"/>
            <a:ext cx="5277240" cy="27084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600" b="0" strike="noStrike" spc="-1" dirty="0">
                <a:solidFill>
                  <a:srgbClr val="F5F1E9"/>
                </a:solidFill>
                <a:latin typeface="PT Sans"/>
              </a:rPr>
              <a:t>Vorname Nachname</a:t>
            </a:r>
            <a:endParaRPr lang="de-DE" sz="1600" b="0" strike="noStrike" spc="-1" dirty="0">
              <a:solidFill>
                <a:srgbClr val="F5F1E9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r>
              <a:rPr lang="de-DE" sz="1600" b="0" strike="noStrike" spc="-1" dirty="0">
                <a:solidFill>
                  <a:srgbClr val="F5F1E9"/>
                </a:solidFill>
                <a:latin typeface="PT Sans"/>
              </a:rPr>
              <a:t>Titel</a:t>
            </a:r>
            <a:endParaRPr lang="de-DE" sz="1600" b="0" strike="noStrike" spc="-1" dirty="0">
              <a:solidFill>
                <a:srgbClr val="F5F1E9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endParaRPr lang="de-DE" sz="1600" b="0" strike="noStrike" spc="-1" dirty="0">
              <a:solidFill>
                <a:srgbClr val="F5F1E9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r>
              <a:rPr lang="de-DE" sz="1600" b="1" strike="noStrike" spc="-1" dirty="0">
                <a:solidFill>
                  <a:srgbClr val="F5F1E9"/>
                </a:solidFill>
                <a:latin typeface="PT Sans"/>
              </a:rPr>
              <a:t>BÜNDNIS 90/DIE GRÜNEN</a:t>
            </a:r>
            <a:endParaRPr lang="de-DE" sz="1600" b="0" strike="noStrike" spc="-1" dirty="0">
              <a:solidFill>
                <a:srgbClr val="F5F1E9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r>
              <a:rPr lang="de-DE" sz="1600" b="1" strike="noStrike" spc="-1" dirty="0">
                <a:solidFill>
                  <a:srgbClr val="F5F1E9"/>
                </a:solidFill>
                <a:latin typeface="PT Sans"/>
              </a:rPr>
              <a:t>KV Musterstadt</a:t>
            </a:r>
            <a:endParaRPr lang="de-DE" sz="1600" b="0" strike="noStrike" spc="-1" dirty="0">
              <a:solidFill>
                <a:srgbClr val="F5F1E9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r>
              <a:rPr lang="de-DE" sz="1600" b="0" strike="noStrike" spc="-1" dirty="0">
                <a:solidFill>
                  <a:srgbClr val="F5F1E9"/>
                </a:solidFill>
                <a:latin typeface="PT Sans"/>
              </a:rPr>
              <a:t>Musterstraße 1</a:t>
            </a:r>
            <a:endParaRPr lang="de-DE" sz="1600" b="0" strike="noStrike" spc="-1" dirty="0">
              <a:solidFill>
                <a:srgbClr val="F5F1E9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r>
              <a:rPr lang="de-DE" sz="1600" b="0" strike="noStrike" spc="-1" dirty="0">
                <a:solidFill>
                  <a:srgbClr val="F5F1E9"/>
                </a:solidFill>
                <a:latin typeface="PT Sans"/>
              </a:rPr>
              <a:t>12345 Musterstadt</a:t>
            </a:r>
            <a:endParaRPr lang="de-DE" sz="1600" b="0" strike="noStrike" spc="-1" dirty="0">
              <a:solidFill>
                <a:srgbClr val="F5F1E9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endParaRPr lang="de-DE" sz="1600" b="0" strike="noStrike" spc="-1" dirty="0">
              <a:solidFill>
                <a:srgbClr val="F5F1E9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r>
              <a:rPr lang="de-DE" sz="1600" b="0" strike="noStrike" spc="-1" dirty="0">
                <a:solidFill>
                  <a:srgbClr val="F5F1E9"/>
                </a:solidFill>
                <a:latin typeface="PT Sans"/>
              </a:rPr>
              <a:t>T +49 12 3456789</a:t>
            </a:r>
            <a:endParaRPr lang="de-DE" sz="1600" b="0" strike="noStrike" spc="-1" dirty="0">
              <a:solidFill>
                <a:srgbClr val="F5F1E9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r>
              <a:rPr lang="de-DE" sz="1600" b="0" strike="noStrike" spc="-1" dirty="0">
                <a:solidFill>
                  <a:srgbClr val="F5F1E9"/>
                </a:solidFill>
                <a:latin typeface="PT Sans"/>
              </a:rPr>
              <a:t>F +49 12 3456789</a:t>
            </a:r>
            <a:endParaRPr lang="de-DE" sz="1600" b="0" strike="noStrike" spc="-1" dirty="0">
              <a:solidFill>
                <a:srgbClr val="F5F1E9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r>
              <a:rPr lang="de-DE" sz="1600" b="0" strike="noStrike" spc="-1" dirty="0" err="1">
                <a:solidFill>
                  <a:srgbClr val="F5F1E9"/>
                </a:solidFill>
                <a:latin typeface="PT Sans"/>
              </a:rPr>
              <a:t>mail@webseite.de</a:t>
            </a:r>
            <a:endParaRPr lang="de-DE" sz="1600" b="0" strike="noStrike" spc="-1" dirty="0">
              <a:solidFill>
                <a:srgbClr val="F5F1E9"/>
              </a:solidFill>
              <a:latin typeface="Calibri"/>
            </a:endParaRPr>
          </a:p>
        </p:txBody>
      </p:sp>
      <p:pic>
        <p:nvPicPr>
          <p:cNvPr id="7" name="Grafik 9">
            <a:extLst>
              <a:ext uri="{FF2B5EF4-FFF2-40B4-BE49-F238E27FC236}">
                <a16:creationId xmlns:a16="http://schemas.microsoft.com/office/drawing/2014/main" id="{1BA99A30-2DEC-EAFA-9035-AA4F25D2F0EC}"/>
              </a:ext>
            </a:extLst>
          </p:cNvPr>
          <p:cNvPicPr/>
          <p:nvPr/>
        </p:nvPicPr>
        <p:blipFill>
          <a:blip r:embed="rId2"/>
          <a:srcRect l="6993" t="11276" r="7069" b="11118"/>
          <a:stretch/>
        </p:blipFill>
        <p:spPr>
          <a:xfrm>
            <a:off x="515938" y="445500"/>
            <a:ext cx="2447640" cy="1325880"/>
          </a:xfrm>
          <a:prstGeom prst="rect">
            <a:avLst/>
          </a:prstGeom>
          <a:ln w="0">
            <a:noFill/>
          </a:ln>
        </p:spPr>
      </p:pic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28D9019-C095-548C-9D35-89417E2A3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E12AA-7DDA-8645-AE7A-FE741ECB2F40}" type="datetime2">
              <a:rPr lang="de-DE" smtClean="0"/>
              <a:t>Mittwoch, 8. Oktober 2025</a:t>
            </a:fld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B45F67C-8E68-1B97-397F-71F18BD4D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Beispielfußzeile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A5440DA2-7772-3900-F422-BFE769183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D175B-08D9-8E40-A64A-C81A91DD0841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B57B16F2-A928-0B7C-0CD4-02D543872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4219" y="2521351"/>
            <a:ext cx="7358127" cy="1368861"/>
          </a:xfrm>
        </p:spPr>
        <p:txBody>
          <a:bodyPr anchor="ctr">
            <a:normAutofit fontScale="90000"/>
          </a:bodyPr>
          <a:lstStyle/>
          <a:p>
            <a:r>
              <a:rPr lang="de-DE" sz="14000" dirty="0"/>
              <a:t>Vielen Dank</a:t>
            </a: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FACA7B5B-9251-E343-98E0-79BCE40634FD}"/>
              </a:ext>
            </a:extLst>
          </p:cNvPr>
          <p:cNvSpPr txBox="1">
            <a:spLocks/>
          </p:cNvSpPr>
          <p:nvPr/>
        </p:nvSpPr>
        <p:spPr>
          <a:xfrm>
            <a:off x="4833873" y="4060660"/>
            <a:ext cx="6769167" cy="789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000" kern="1200">
                <a:solidFill>
                  <a:srgbClr val="F5F1E9"/>
                </a:solidFill>
                <a:latin typeface="GrueneType Neue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de-DE" sz="14000" dirty="0"/>
              <a:t>für eure Aufmerksamkeit!</a:t>
            </a:r>
          </a:p>
        </p:txBody>
      </p:sp>
    </p:spTree>
    <p:extLst>
      <p:ext uri="{BB962C8B-B14F-4D97-AF65-F5344CB8AC3E}">
        <p14:creationId xmlns:p14="http://schemas.microsoft.com/office/powerpoint/2010/main" val="4096851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906A4F7-8786-AD0D-C679-A8E269804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9FCFE-50C0-E54E-B686-60973F5D2DA1}" type="datetime2">
              <a:rPr lang="de-DE" smtClean="0"/>
              <a:t>Mittwoch, 8. Oktober 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D9AF549-F4E3-DB31-2235-F217796A0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Beispielfußzeile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32E3169-0442-E8BC-6437-7836CA79A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D175B-08D9-8E40-A64A-C81A91DD0841}" type="slidenum">
              <a:rPr lang="de-DE" smtClean="0"/>
              <a:t>15</a:t>
            </a:fld>
            <a:endParaRPr lang="de-DE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DD8C5D8-A9E3-7506-093B-769A8D2FC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26" y="578226"/>
            <a:ext cx="11684816" cy="1719835"/>
          </a:xfrm>
        </p:spPr>
        <p:txBody>
          <a:bodyPr anchor="ctr"/>
          <a:lstStyle/>
          <a:p>
            <a:r>
              <a:rPr lang="de-DE" sz="16000" dirty="0"/>
              <a:t>Titelfolie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671F0488-C0CC-50DA-B794-5EBE3EDBC128}"/>
              </a:ext>
            </a:extLst>
          </p:cNvPr>
          <p:cNvSpPr txBox="1">
            <a:spLocks/>
          </p:cNvSpPr>
          <p:nvPr/>
        </p:nvSpPr>
        <p:spPr>
          <a:xfrm>
            <a:off x="405326" y="2301873"/>
            <a:ext cx="7058730" cy="16097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F5F1E9"/>
                </a:solidFill>
                <a:latin typeface="PT Sans" panose="020B05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F5F1E9"/>
                </a:solidFill>
                <a:latin typeface="PT Sans" panose="020B05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F5F1E9"/>
                </a:solidFill>
                <a:latin typeface="PT Sans" panose="020B05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F5F1E9"/>
                </a:solidFill>
                <a:latin typeface="PT Sans" panose="020B05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F5F1E9"/>
                </a:solidFill>
                <a:latin typeface="PT Sans" panose="020B05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sz="2000" dirty="0">
                <a:solidFill>
                  <a:srgbClr val="005538"/>
                </a:solidFill>
              </a:rPr>
              <a:t>Verwende auf der ersten Folie eine große Headline – denn großzügige Titelfolien schaffen Aufmerksamkeit. </a:t>
            </a:r>
            <a:r>
              <a:rPr lang="de-DE" sz="2000" b="1" dirty="0">
                <a:solidFill>
                  <a:srgbClr val="005538"/>
                </a:solidFill>
              </a:rPr>
              <a:t>Versuche Inhalte grundsätzlich auf das Wesentliche zu reduzieren. </a:t>
            </a:r>
            <a:r>
              <a:rPr lang="de-DE" sz="2000" dirty="0">
                <a:solidFill>
                  <a:srgbClr val="005538"/>
                </a:solidFill>
              </a:rPr>
              <a:t>Niemand liest gern Romane in einer PowerPoint-Präsentation.</a:t>
            </a:r>
          </a:p>
        </p:txBody>
      </p:sp>
    </p:spTree>
    <p:extLst>
      <p:ext uri="{BB962C8B-B14F-4D97-AF65-F5344CB8AC3E}">
        <p14:creationId xmlns:p14="http://schemas.microsoft.com/office/powerpoint/2010/main" val="1389959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95DD4-4420-EFAF-2691-AC47A42DA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82B90AB-0EB4-7941-1399-82C2A850F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E87B-D511-F642-8462-0A8435975D72}" type="datetime2">
              <a:rPr lang="de-DE" smtClean="0"/>
              <a:t>Mittwoch, 8. Oktober 2025</a:t>
            </a:fld>
            <a:endParaRPr lang="de-DE"/>
          </a:p>
        </p:txBody>
      </p:sp>
      <p:pic>
        <p:nvPicPr>
          <p:cNvPr id="12" name="Grafik 11" descr="Ein Bild, das Pflanze, Blume, Sonnenblume, Himmel enthält.&#10;&#10;KI-generierte Inhalte können fehlerhaft sein.">
            <a:extLst>
              <a:ext uri="{FF2B5EF4-FFF2-40B4-BE49-F238E27FC236}">
                <a16:creationId xmlns:a16="http://schemas.microsoft.com/office/drawing/2014/main" id="{3F67A5F6-A423-6AAE-7346-72E659C2C4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88" b="34237"/>
          <a:stretch>
            <a:fillRect/>
          </a:stretch>
        </p:blipFill>
        <p:spPr>
          <a:xfrm>
            <a:off x="6091238" y="0"/>
            <a:ext cx="6096000" cy="6858000"/>
          </a:xfrm>
          <a:prstGeom prst="rect">
            <a:avLst/>
          </a:prstGeom>
        </p:spPr>
      </p:pic>
      <p:sp>
        <p:nvSpPr>
          <p:cNvPr id="13" name="Titel 4">
            <a:extLst>
              <a:ext uri="{FF2B5EF4-FFF2-40B4-BE49-F238E27FC236}">
                <a16:creationId xmlns:a16="http://schemas.microsoft.com/office/drawing/2014/main" id="{B20889A8-1260-8FC6-EFE4-DE3DFCBFA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512764"/>
            <a:ext cx="10515600" cy="1519236"/>
          </a:xfrm>
        </p:spPr>
        <p:txBody>
          <a:bodyPr anchor="ctr">
            <a:noAutofit/>
          </a:bodyPr>
          <a:lstStyle/>
          <a:p>
            <a:r>
              <a:rPr lang="de-DE" dirty="0"/>
              <a:t>Beispiel mit </a:t>
            </a:r>
            <a:br>
              <a:rPr lang="de-DE" dirty="0"/>
            </a:br>
            <a:r>
              <a:rPr lang="de-DE" dirty="0"/>
              <a:t>Text &amp; Bild</a:t>
            </a:r>
          </a:p>
        </p:txBody>
      </p:sp>
      <p:sp>
        <p:nvSpPr>
          <p:cNvPr id="14" name="Inhaltsplatzhalter 5">
            <a:extLst>
              <a:ext uri="{FF2B5EF4-FFF2-40B4-BE49-F238E27FC236}">
                <a16:creationId xmlns:a16="http://schemas.microsoft.com/office/drawing/2014/main" id="{D6B41F06-8432-7BCC-B2F6-8EE224A39E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8" y="2324098"/>
            <a:ext cx="4493944" cy="4351338"/>
          </a:xfrm>
        </p:spPr>
        <p:txBody>
          <a:bodyPr/>
          <a:lstStyle/>
          <a:p>
            <a:r>
              <a:rPr lang="de-DE" dirty="0"/>
              <a:t>Hier könnten ein paar deiner Gedanken stehen. Teile Punkte lieber auf mehrere Slides auf und verwende Fotos, um deine Punkte zu illustrieren. </a:t>
            </a:r>
          </a:p>
        </p:txBody>
      </p:sp>
      <p:sp>
        <p:nvSpPr>
          <p:cNvPr id="15" name="Oval 10">
            <a:extLst>
              <a:ext uri="{FF2B5EF4-FFF2-40B4-BE49-F238E27FC236}">
                <a16:creationId xmlns:a16="http://schemas.microsoft.com/office/drawing/2014/main" id="{E5D02486-13BD-B6FC-A899-FBFC97BA360B}"/>
              </a:ext>
            </a:extLst>
          </p:cNvPr>
          <p:cNvSpPr/>
          <p:nvPr/>
        </p:nvSpPr>
        <p:spPr>
          <a:xfrm rot="21180000">
            <a:off x="6457106" y="622822"/>
            <a:ext cx="1923840" cy="192384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36000" anchor="ctr">
            <a:noAutofit/>
          </a:bodyPr>
          <a:lstStyle/>
          <a:p>
            <a:pPr algn="ctr">
              <a:lnSpc>
                <a:spcPts val="2999"/>
              </a:lnSpc>
              <a:buNone/>
            </a:pPr>
            <a:r>
              <a:rPr lang="de-DE" sz="2400" b="0" strike="noStrike" spc="-1" dirty="0">
                <a:solidFill>
                  <a:srgbClr val="F5F1E9"/>
                </a:solidFill>
                <a:latin typeface="GrueneType Neue" panose="02000000000000000000" pitchFamily="2" charset="77"/>
              </a:rPr>
              <a:t>Hier steht der Störer-Text.</a:t>
            </a:r>
            <a:endParaRPr lang="de-DE" sz="2400" b="0" strike="noStrike" spc="-1" dirty="0">
              <a:solidFill>
                <a:srgbClr val="000000"/>
              </a:solidFill>
              <a:latin typeface="GrueneType Neue" panose="02000000000000000000" pitchFamily="2" charset="77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50BDF7D-2B19-D7D2-0A20-66B8C5419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78200" y="6492874"/>
            <a:ext cx="4114800" cy="365125"/>
          </a:xfrm>
        </p:spPr>
        <p:txBody>
          <a:bodyPr/>
          <a:lstStyle/>
          <a:p>
            <a:r>
              <a:rPr lang="de-DE" dirty="0"/>
              <a:t>Beispielfußzeile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8B214CF-6159-F045-8953-7D8178AC7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D175B-08D9-8E40-A64A-C81A91DD0841}" type="slidenum">
              <a:rPr lang="de-DE" smtClean="0">
                <a:solidFill>
                  <a:srgbClr val="F5F1E9"/>
                </a:solidFill>
              </a:rPr>
              <a:pPr/>
              <a:t>16</a:t>
            </a:fld>
            <a:endParaRPr lang="de-DE" dirty="0">
              <a:solidFill>
                <a:srgbClr val="F5F1E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2708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2131F-475B-20CA-2DB2-74D2F361D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2EAF293-A79A-379F-FAD0-6FE8A150D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43450" y="6492874"/>
            <a:ext cx="4114800" cy="365125"/>
          </a:xfrm>
        </p:spPr>
        <p:txBody>
          <a:bodyPr/>
          <a:lstStyle/>
          <a:p>
            <a:r>
              <a:rPr lang="de-DE" dirty="0"/>
              <a:t>Beispielfußzeile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A57E0FA-1AB4-664E-9207-41D3D384B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D175B-08D9-8E40-A64A-C81A91DD0841}" type="slidenum">
              <a:rPr lang="de-DE" smtClean="0"/>
              <a:pPr/>
              <a:t>17</a:t>
            </a:fld>
            <a:endParaRPr lang="de-DE"/>
          </a:p>
        </p:txBody>
      </p:sp>
      <p:pic>
        <p:nvPicPr>
          <p:cNvPr id="12" name="Grafik 11" descr="Ein Bild, das Pflanze, Blume, Sonnenblume, Himmel enthält.&#10;&#10;KI-generierte Inhalte können fehlerhaft sein.">
            <a:extLst>
              <a:ext uri="{FF2B5EF4-FFF2-40B4-BE49-F238E27FC236}">
                <a16:creationId xmlns:a16="http://schemas.microsoft.com/office/drawing/2014/main" id="{700AFB7B-C27A-A505-54F3-3037B26065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237"/>
          <a:stretch>
            <a:fillRect/>
          </a:stretch>
        </p:blipFill>
        <p:spPr>
          <a:xfrm>
            <a:off x="-830318" y="0"/>
            <a:ext cx="6926318" cy="6858000"/>
          </a:xfrm>
          <a:prstGeom prst="rect">
            <a:avLst/>
          </a:prstGeom>
        </p:spPr>
      </p:pic>
      <p:sp>
        <p:nvSpPr>
          <p:cNvPr id="13" name="Titel 4">
            <a:extLst>
              <a:ext uri="{FF2B5EF4-FFF2-40B4-BE49-F238E27FC236}">
                <a16:creationId xmlns:a16="http://schemas.microsoft.com/office/drawing/2014/main" id="{3B386CE1-8730-E841-11DC-3E7D4D49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5088" y="512764"/>
            <a:ext cx="10515600" cy="1519236"/>
          </a:xfrm>
        </p:spPr>
        <p:txBody>
          <a:bodyPr anchor="ctr">
            <a:noAutofit/>
          </a:bodyPr>
          <a:lstStyle/>
          <a:p>
            <a:r>
              <a:rPr lang="de-DE" dirty="0"/>
              <a:t>Beispiel mit </a:t>
            </a:r>
            <a:br>
              <a:rPr lang="de-DE" dirty="0"/>
            </a:br>
            <a:r>
              <a:rPr lang="de-DE" dirty="0"/>
              <a:t>Text &amp; Bild</a:t>
            </a:r>
          </a:p>
        </p:txBody>
      </p:sp>
      <p:sp>
        <p:nvSpPr>
          <p:cNvPr id="14" name="Inhaltsplatzhalter 5">
            <a:extLst>
              <a:ext uri="{FF2B5EF4-FFF2-40B4-BE49-F238E27FC236}">
                <a16:creationId xmlns:a16="http://schemas.microsoft.com/office/drawing/2014/main" id="{754DF09F-7A97-3243-8A4B-E587A857C6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15088" y="2324098"/>
            <a:ext cx="4493944" cy="4351338"/>
          </a:xfrm>
        </p:spPr>
        <p:txBody>
          <a:bodyPr/>
          <a:lstStyle/>
          <a:p>
            <a:r>
              <a:rPr lang="de-DE" dirty="0"/>
              <a:t>Hier könnten ein paar deiner Gedanken stehen. Teile Punkte lieber auf mehrere Slides auf und verwende Fotos, um deine Punkte zu illustrieren. </a:t>
            </a:r>
          </a:p>
        </p:txBody>
      </p:sp>
      <p:sp>
        <p:nvSpPr>
          <p:cNvPr id="15" name="Oval 10">
            <a:extLst>
              <a:ext uri="{FF2B5EF4-FFF2-40B4-BE49-F238E27FC236}">
                <a16:creationId xmlns:a16="http://schemas.microsoft.com/office/drawing/2014/main" id="{89024E80-7D3D-C8AA-7378-D36E353F9EEA}"/>
              </a:ext>
            </a:extLst>
          </p:cNvPr>
          <p:cNvSpPr/>
          <p:nvPr/>
        </p:nvSpPr>
        <p:spPr>
          <a:xfrm rot="21180000">
            <a:off x="259891" y="622823"/>
            <a:ext cx="1923840" cy="192384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36000" anchor="ctr">
            <a:noAutofit/>
          </a:bodyPr>
          <a:lstStyle/>
          <a:p>
            <a:pPr algn="ctr">
              <a:lnSpc>
                <a:spcPts val="2999"/>
              </a:lnSpc>
              <a:buNone/>
            </a:pPr>
            <a:r>
              <a:rPr lang="de-DE" sz="2400" b="0" strike="noStrike" spc="-1" dirty="0">
                <a:solidFill>
                  <a:srgbClr val="F5F1E9"/>
                </a:solidFill>
                <a:latin typeface="GrueneType Neue" panose="02000000000000000000" pitchFamily="2" charset="77"/>
              </a:rPr>
              <a:t>Hier steht der Störer-Text.</a:t>
            </a:r>
            <a:endParaRPr lang="de-DE" sz="2400" b="0" strike="noStrike" spc="-1" dirty="0">
              <a:solidFill>
                <a:srgbClr val="000000"/>
              </a:solidFill>
              <a:latin typeface="GrueneType Neue" panose="02000000000000000000" pitchFamily="2" charset="77"/>
            </a:endParaRP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3A91E67-82BF-3F81-28CA-335ED957A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6ABDF-B5B3-A049-B325-FAFCD2C76D3F}" type="datetime2">
              <a:rPr lang="de-DE" smtClean="0"/>
              <a:t>Mittwoch, 8. Oktober 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595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A1313-334D-8229-A90E-FF201575C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4033561-E40A-BDFF-34D6-07E13B0E1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151DE-DCF3-8642-9C1F-050A00260F4D}" type="datetime2">
              <a:rPr lang="de-DE" smtClean="0"/>
              <a:t>Mittwoch, 8. Oktober 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084D972-0337-B566-EC5E-BD09312CF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Beispielfußzeile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C286771-01BD-9FC7-34E9-D615FB25E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D175B-08D9-8E40-A64A-C81A91DD0841}" type="slidenum">
              <a:rPr lang="de-DE" smtClean="0"/>
              <a:pPr/>
              <a:t>18</a:t>
            </a:fld>
            <a:endParaRPr lang="de-DE"/>
          </a:p>
        </p:txBody>
      </p:sp>
      <p:sp>
        <p:nvSpPr>
          <p:cNvPr id="15" name="Titel 4">
            <a:extLst>
              <a:ext uri="{FF2B5EF4-FFF2-40B4-BE49-F238E27FC236}">
                <a16:creationId xmlns:a16="http://schemas.microsoft.com/office/drawing/2014/main" id="{6FA5A2E9-44E4-5F55-F61F-73F9C7C79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512764"/>
            <a:ext cx="10515600" cy="718160"/>
          </a:xfrm>
        </p:spPr>
        <p:txBody>
          <a:bodyPr anchor="ctr">
            <a:noAutofit/>
          </a:bodyPr>
          <a:lstStyle/>
          <a:p>
            <a:r>
              <a:rPr lang="de-DE" dirty="0"/>
              <a:t>Textfolie</a:t>
            </a:r>
          </a:p>
        </p:txBody>
      </p:sp>
      <p:sp>
        <p:nvSpPr>
          <p:cNvPr id="16" name="Inhaltsplatzhalter 5">
            <a:extLst>
              <a:ext uri="{FF2B5EF4-FFF2-40B4-BE49-F238E27FC236}">
                <a16:creationId xmlns:a16="http://schemas.microsoft.com/office/drawing/2014/main" id="{932C4967-F0D4-40C5-D2F1-A537174549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38326"/>
            <a:ext cx="11316833" cy="2548617"/>
          </a:xfrm>
        </p:spPr>
        <p:txBody>
          <a:bodyPr numCol="2"/>
          <a:lstStyle/>
          <a:p>
            <a:r>
              <a:rPr lang="de-DE" dirty="0"/>
              <a:t>Hier steht nur Text. Ein bisschen langweilig, aber manchmal muss auch das sein. Denn nicht zu jedem Gedanken gibt es das passende Bild. </a:t>
            </a:r>
          </a:p>
          <a:p>
            <a:r>
              <a:rPr lang="de-DE" dirty="0"/>
              <a:t>Ein guter Trick: Achte darauf, dass deine Zeilen nicht zu lang werden. </a:t>
            </a:r>
            <a:br>
              <a:rPr lang="de-DE" dirty="0"/>
            </a:br>
            <a:r>
              <a:rPr lang="de-DE" dirty="0"/>
              <a:t>Das menschliche Auge kann einer zu langen Zeile schwer folgen und verrutscht beim </a:t>
            </a:r>
            <a:r>
              <a:rPr lang="de-DE" dirty="0" err="1"/>
              <a:t>Zeilenumsprung</a:t>
            </a:r>
            <a:r>
              <a:rPr lang="de-DE" dirty="0"/>
              <a:t>. </a:t>
            </a:r>
            <a:r>
              <a:rPr lang="de-DE" b="1" dirty="0"/>
              <a:t>Versuche deinen Text in zwei Spalten anzulegen. </a:t>
            </a:r>
            <a:r>
              <a:rPr lang="de-DE" dirty="0"/>
              <a:t>So macht auch das Lesen längerer Texte noch Spaß.</a:t>
            </a:r>
          </a:p>
        </p:txBody>
      </p:sp>
      <p:sp>
        <p:nvSpPr>
          <p:cNvPr id="17" name="Oval 10">
            <a:extLst>
              <a:ext uri="{FF2B5EF4-FFF2-40B4-BE49-F238E27FC236}">
                <a16:creationId xmlns:a16="http://schemas.microsoft.com/office/drawing/2014/main" id="{F8110482-FE76-C869-E5D1-1DD1854281A6}"/>
              </a:ext>
            </a:extLst>
          </p:cNvPr>
          <p:cNvSpPr/>
          <p:nvPr/>
        </p:nvSpPr>
        <p:spPr>
          <a:xfrm rot="21180000">
            <a:off x="9642162" y="4155765"/>
            <a:ext cx="1923840" cy="19238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36000" anchor="ctr">
            <a:noAutofit/>
          </a:bodyPr>
          <a:lstStyle/>
          <a:p>
            <a:pPr algn="ctr">
              <a:lnSpc>
                <a:spcPts val="2999"/>
              </a:lnSpc>
              <a:buNone/>
            </a:pPr>
            <a:r>
              <a:rPr lang="de-DE" sz="2400" b="0" strike="noStrike" spc="-1" dirty="0">
                <a:solidFill>
                  <a:srgbClr val="F5F1E9"/>
                </a:solidFill>
                <a:latin typeface="GrueneType Neue" panose="02000000000000000000" pitchFamily="2" charset="77"/>
              </a:rPr>
              <a:t>Hier steht der Störer-Text.</a:t>
            </a:r>
            <a:endParaRPr lang="de-DE" sz="2400" b="0" strike="noStrike" spc="-1" dirty="0">
              <a:solidFill>
                <a:srgbClr val="000000"/>
              </a:solidFill>
              <a:latin typeface="GrueneType Neue" panose="02000000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584203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6F741D4-EB50-2B46-0272-00C45E87C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6325-51E6-7E42-A294-3B25FF1420B7}" type="datetime2">
              <a:rPr lang="de-DE" smtClean="0"/>
              <a:t>Mittwoch, 8. Oktober 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E8AADE4-DDB2-4D2A-787C-434879659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Beispielfußzeile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B44B5C8-CCA3-BE8E-B86D-BED629B2A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D175B-08D9-8E40-A64A-C81A91DD0841}" type="slidenum">
              <a:rPr lang="de-DE" smtClean="0"/>
              <a:pPr/>
              <a:t>19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E1E32B3-AFAE-3A2A-6627-854849D9B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dirty="0"/>
              <a:t>Diagramm Vorlage</a:t>
            </a:r>
          </a:p>
        </p:txBody>
      </p:sp>
      <p:graphicFrame>
        <p:nvGraphicFramePr>
          <p:cNvPr id="7" name="Inhaltsplatzhalter 9">
            <a:extLst>
              <a:ext uri="{FF2B5EF4-FFF2-40B4-BE49-F238E27FC236}">
                <a16:creationId xmlns:a16="http://schemas.microsoft.com/office/drawing/2014/main" id="{9CF91AA5-DCBB-D2AC-A699-483370B0E78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46168249"/>
              </p:ext>
            </p:extLst>
          </p:nvPr>
        </p:nvGraphicFramePr>
        <p:xfrm>
          <a:off x="515938" y="18383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Diagramm 7">
            <a:extLst>
              <a:ext uri="{FF2B5EF4-FFF2-40B4-BE49-F238E27FC236}">
                <a16:creationId xmlns:a16="http://schemas.microsoft.com/office/drawing/2014/main" id="{B4AC0F74-3D65-B97E-0585-576CD4AC64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7444594"/>
              </p:ext>
            </p:extLst>
          </p:nvPr>
        </p:nvGraphicFramePr>
        <p:xfrm>
          <a:off x="5697538" y="1749700"/>
          <a:ext cx="6442697" cy="43000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0539770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7A69D52-07A8-EEAF-3CEC-A369C2A20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607B9-0A37-3141-90FC-9369463A4BC0}" type="datetime2">
              <a:rPr lang="de-DE" smtClean="0"/>
              <a:t>Mittwoch, 8. Oktober 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BDB4837-1239-510B-3729-A0F41F640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Beispielfußzeile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61EFFFB-DA5E-17CA-D12C-FA11153DE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D175B-08D9-8E40-A64A-C81A91DD0841}" type="slidenum">
              <a:rPr lang="de-DE" smtClean="0"/>
              <a:pPr/>
              <a:t>20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E59DDC1-1CB1-87A1-BC7D-312E45CBA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646" y="512762"/>
            <a:ext cx="3054892" cy="2347443"/>
          </a:xfrm>
          <a:prstGeom prst="rect">
            <a:avLst/>
          </a:prstGeom>
        </p:spPr>
      </p:pic>
      <p:sp>
        <p:nvSpPr>
          <p:cNvPr id="8" name="Inhaltsplatzhalter 5">
            <a:extLst>
              <a:ext uri="{FF2B5EF4-FFF2-40B4-BE49-F238E27FC236}">
                <a16:creationId xmlns:a16="http://schemas.microsoft.com/office/drawing/2014/main" id="{E40931A6-D852-9184-8583-D83329F934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3602" y="1683491"/>
            <a:ext cx="6081871" cy="4293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2500" dirty="0"/>
              <a:t>Zusammenbringen, was zusammen gehört:</a:t>
            </a:r>
          </a:p>
        </p:txBody>
      </p:sp>
      <p:sp>
        <p:nvSpPr>
          <p:cNvPr id="9" name="Titel 16">
            <a:extLst>
              <a:ext uri="{FF2B5EF4-FFF2-40B4-BE49-F238E27FC236}">
                <a16:creationId xmlns:a16="http://schemas.microsoft.com/office/drawing/2014/main" id="{59559A1B-727F-0033-549F-852C2B108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46" y="2224237"/>
            <a:ext cx="11300257" cy="3616480"/>
          </a:xfrm>
        </p:spPr>
        <p:txBody>
          <a:bodyPr>
            <a:normAutofit/>
          </a:bodyPr>
          <a:lstStyle/>
          <a:p>
            <a:pPr marL="0" indent="0"/>
            <a:r>
              <a:rPr lang="de-DE" dirty="0"/>
              <a:t>Wir schützen </a:t>
            </a:r>
            <a:r>
              <a:rPr lang="de-DE" dirty="0">
                <a:solidFill>
                  <a:schemeClr val="accent2"/>
                </a:solidFill>
              </a:rPr>
              <a:t>Klima &amp; Wirtschaft, </a:t>
            </a:r>
            <a:r>
              <a:rPr lang="de-DE" dirty="0"/>
              <a:t>sorgen für </a:t>
            </a:r>
            <a:r>
              <a:rPr lang="de-DE" dirty="0">
                <a:solidFill>
                  <a:schemeClr val="accent2"/>
                </a:solidFill>
              </a:rPr>
              <a:t>Gerechtigkeit,</a:t>
            </a:r>
            <a:r>
              <a:rPr lang="de-DE" dirty="0"/>
              <a:t> verteidigen </a:t>
            </a:r>
            <a:r>
              <a:rPr lang="de-DE" dirty="0">
                <a:solidFill>
                  <a:schemeClr val="accent2"/>
                </a:solidFill>
              </a:rPr>
              <a:t>Demokratie &amp; Freiheit</a:t>
            </a:r>
            <a:r>
              <a:rPr lang="de-DE" dirty="0"/>
              <a:t> und schaffen </a:t>
            </a:r>
            <a:r>
              <a:rPr lang="de-DE" dirty="0">
                <a:solidFill>
                  <a:schemeClr val="accent2"/>
                </a:solidFill>
              </a:rPr>
              <a:t>Frieden &amp; Sicherheit.</a:t>
            </a:r>
            <a:endParaRPr lang="de-DE" sz="72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5594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46873-25A4-B99B-0A09-C2D3CCAB7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8902BA3-A485-B4BF-832D-59F89E94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ADDA-D24B-A743-A6A9-CAE666164B13}" type="datetime2">
              <a:rPr lang="de-DE" smtClean="0"/>
              <a:t>Mittwoch, 8. Oktober 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C7962B2-5C8B-9E7C-8942-07FDD1B63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Beispielfußzeile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9120ADF-59A8-F548-BA20-F50AAE0B8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D175B-08D9-8E40-A64A-C81A91DD0841}" type="slidenum">
              <a:rPr lang="de-DE" smtClean="0"/>
              <a:pPr/>
              <a:t>21</a:t>
            </a:fld>
            <a:endParaRPr lang="de-DE"/>
          </a:p>
        </p:txBody>
      </p:sp>
      <p:sp>
        <p:nvSpPr>
          <p:cNvPr id="9" name="Textfeld 1">
            <a:extLst>
              <a:ext uri="{FF2B5EF4-FFF2-40B4-BE49-F238E27FC236}">
                <a16:creationId xmlns:a16="http://schemas.microsoft.com/office/drawing/2014/main" id="{B8795F23-9C83-F501-AADF-169D53E91454}"/>
              </a:ext>
            </a:extLst>
          </p:cNvPr>
          <p:cNvSpPr/>
          <p:nvPr/>
        </p:nvSpPr>
        <p:spPr>
          <a:xfrm>
            <a:off x="588960" y="3041126"/>
            <a:ext cx="5277240" cy="27084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600" b="0" strike="noStrike" spc="-1" dirty="0">
                <a:solidFill>
                  <a:srgbClr val="005538"/>
                </a:solidFill>
                <a:latin typeface="PT Sans"/>
              </a:rPr>
              <a:t>Vorname Nachname</a:t>
            </a:r>
            <a:endParaRPr lang="de-DE" sz="1600" b="0" strike="noStrike" spc="-1" dirty="0">
              <a:solidFill>
                <a:srgbClr val="005538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r>
              <a:rPr lang="de-DE" sz="1600" b="0" strike="noStrike" spc="-1" dirty="0">
                <a:solidFill>
                  <a:srgbClr val="005538"/>
                </a:solidFill>
                <a:latin typeface="PT Sans"/>
              </a:rPr>
              <a:t>Titel</a:t>
            </a:r>
            <a:endParaRPr lang="de-DE" sz="1600" b="0" strike="noStrike" spc="-1" dirty="0">
              <a:solidFill>
                <a:srgbClr val="005538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endParaRPr lang="de-DE" sz="1600" b="0" strike="noStrike" spc="-1" dirty="0">
              <a:solidFill>
                <a:srgbClr val="005538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r>
              <a:rPr lang="de-DE" sz="1600" b="1" strike="noStrike" spc="-1" dirty="0">
                <a:solidFill>
                  <a:srgbClr val="005538"/>
                </a:solidFill>
                <a:latin typeface="PT Sans"/>
              </a:rPr>
              <a:t>BÜNDNIS 90/DIE GRÜNEN</a:t>
            </a:r>
            <a:endParaRPr lang="de-DE" sz="1600" b="0" strike="noStrike" spc="-1" dirty="0">
              <a:solidFill>
                <a:srgbClr val="005538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r>
              <a:rPr lang="de-DE" sz="1600" b="1" strike="noStrike" spc="-1" dirty="0">
                <a:solidFill>
                  <a:srgbClr val="005538"/>
                </a:solidFill>
                <a:latin typeface="PT Sans"/>
              </a:rPr>
              <a:t>KV Musterstadt</a:t>
            </a:r>
            <a:endParaRPr lang="de-DE" sz="1600" b="0" strike="noStrike" spc="-1" dirty="0">
              <a:solidFill>
                <a:srgbClr val="005538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r>
              <a:rPr lang="de-DE" sz="1600" b="0" strike="noStrike" spc="-1" dirty="0">
                <a:solidFill>
                  <a:srgbClr val="005538"/>
                </a:solidFill>
                <a:latin typeface="PT Sans"/>
              </a:rPr>
              <a:t>Musterstraße 1</a:t>
            </a:r>
            <a:endParaRPr lang="de-DE" sz="1600" b="0" strike="noStrike" spc="-1" dirty="0">
              <a:solidFill>
                <a:srgbClr val="005538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r>
              <a:rPr lang="de-DE" sz="1600" b="0" strike="noStrike" spc="-1" dirty="0">
                <a:solidFill>
                  <a:srgbClr val="005538"/>
                </a:solidFill>
                <a:latin typeface="PT Sans"/>
              </a:rPr>
              <a:t>12345 Musterstadt</a:t>
            </a:r>
            <a:endParaRPr lang="de-DE" sz="1600" b="0" strike="noStrike" spc="-1" dirty="0">
              <a:solidFill>
                <a:srgbClr val="005538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endParaRPr lang="de-DE" sz="1600" b="0" strike="noStrike" spc="-1" dirty="0">
              <a:solidFill>
                <a:srgbClr val="005538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r>
              <a:rPr lang="de-DE" sz="1600" b="0" strike="noStrike" spc="-1" dirty="0">
                <a:solidFill>
                  <a:srgbClr val="005538"/>
                </a:solidFill>
                <a:latin typeface="PT Sans"/>
              </a:rPr>
              <a:t>T +49 12 3456789</a:t>
            </a:r>
            <a:endParaRPr lang="de-DE" sz="1600" b="0" strike="noStrike" spc="-1" dirty="0">
              <a:solidFill>
                <a:srgbClr val="005538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r>
              <a:rPr lang="de-DE" sz="1600" b="0" strike="noStrike" spc="-1" dirty="0">
                <a:solidFill>
                  <a:srgbClr val="005538"/>
                </a:solidFill>
                <a:latin typeface="PT Sans"/>
              </a:rPr>
              <a:t>F +49 12 3456789</a:t>
            </a:r>
            <a:endParaRPr lang="de-DE" sz="1600" b="0" strike="noStrike" spc="-1" dirty="0">
              <a:solidFill>
                <a:srgbClr val="005538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r>
              <a:rPr lang="de-DE" sz="1600" b="0" strike="noStrike" spc="-1" dirty="0" err="1">
                <a:solidFill>
                  <a:srgbClr val="005538"/>
                </a:solidFill>
                <a:latin typeface="PT Sans"/>
              </a:rPr>
              <a:t>mail@webseite.de</a:t>
            </a:r>
            <a:endParaRPr lang="de-DE" sz="1600" b="0" strike="noStrike" spc="-1" dirty="0">
              <a:solidFill>
                <a:srgbClr val="005538"/>
              </a:solidFill>
              <a:latin typeface="Calibri"/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5F5FF2F6-C757-535E-19C3-7FAD2690B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4219" y="2521351"/>
            <a:ext cx="7358127" cy="1368861"/>
          </a:xfrm>
        </p:spPr>
        <p:txBody>
          <a:bodyPr anchor="ctr">
            <a:normAutofit fontScale="90000"/>
          </a:bodyPr>
          <a:lstStyle/>
          <a:p>
            <a:r>
              <a:rPr lang="de-DE" sz="14000" dirty="0"/>
              <a:t>Vielen Dank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5AABBA87-0C24-F1DC-7701-E9EE468E8688}"/>
              </a:ext>
            </a:extLst>
          </p:cNvPr>
          <p:cNvSpPr txBox="1">
            <a:spLocks/>
          </p:cNvSpPr>
          <p:nvPr/>
        </p:nvSpPr>
        <p:spPr>
          <a:xfrm>
            <a:off x="4833873" y="4060660"/>
            <a:ext cx="6769167" cy="789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000" kern="1200">
                <a:solidFill>
                  <a:srgbClr val="F5F1E9"/>
                </a:solidFill>
                <a:latin typeface="GrueneType Neue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de-DE" sz="14000" dirty="0">
                <a:solidFill>
                  <a:srgbClr val="005538"/>
                </a:solidFill>
              </a:rPr>
              <a:t>für eure Aufmerksamkeit!</a:t>
            </a:r>
          </a:p>
        </p:txBody>
      </p:sp>
      <p:pic>
        <p:nvPicPr>
          <p:cNvPr id="18" name="Grafik 17" descr="Ein Bild, das Blume, Pflanze, Sonnenblume, gelb enthält.&#10;&#10;KI-generierte Inhalte können fehlerhaft sein.">
            <a:extLst>
              <a:ext uri="{FF2B5EF4-FFF2-40B4-BE49-F238E27FC236}">
                <a16:creationId xmlns:a16="http://schemas.microsoft.com/office/drawing/2014/main" id="{80090905-3003-6E71-78D2-9501469F1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35" y="233091"/>
            <a:ext cx="2892271" cy="173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325177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">
  <a:themeElements>
    <a:clrScheme name="Grundlagendesign 2025">
      <a:dk1>
        <a:srgbClr val="262628"/>
      </a:dk1>
      <a:lt1>
        <a:srgbClr val="F5F1E9"/>
      </a:lt1>
      <a:dk2>
        <a:srgbClr val="145E32"/>
      </a:dk2>
      <a:lt2>
        <a:srgbClr val="6CCD87"/>
      </a:lt2>
      <a:accent1>
        <a:srgbClr val="008938"/>
      </a:accent1>
      <a:accent2>
        <a:srgbClr val="8ABD24"/>
      </a:accent2>
      <a:accent3>
        <a:srgbClr val="0BA1DD"/>
      </a:accent3>
      <a:accent4>
        <a:srgbClr val="FFF179"/>
      </a:accent4>
      <a:accent5>
        <a:srgbClr val="E6007E"/>
      </a:accent5>
      <a:accent6>
        <a:srgbClr val="70AD47"/>
      </a:accent6>
      <a:hlink>
        <a:srgbClr val="8ABD24"/>
      </a:hlink>
      <a:folHlink>
        <a:srgbClr val="008938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250627_B90Gruene_PowerPoint-Vorlage_Grundlagendesign2025_GrueneTypeNeueFIX" id="{D7254C7D-5874-3A4C-86AE-8712B6AA8D7B}" vid="{08762404-F0DA-9F42-9139-D8E73A67D394}"/>
    </a:ext>
  </a:extLst>
</a:theme>
</file>

<file path=ppt/theme/theme2.xml><?xml version="1.0" encoding="utf-8"?>
<a:theme xmlns:a="http://schemas.openxmlformats.org/drawingml/2006/main" name="3_Office">
  <a:themeElements>
    <a:clrScheme name="Grundlagendesign 2025">
      <a:dk1>
        <a:srgbClr val="262628"/>
      </a:dk1>
      <a:lt1>
        <a:srgbClr val="F5F1E9"/>
      </a:lt1>
      <a:dk2>
        <a:srgbClr val="145E32"/>
      </a:dk2>
      <a:lt2>
        <a:srgbClr val="6CCD87"/>
      </a:lt2>
      <a:accent1>
        <a:srgbClr val="008938"/>
      </a:accent1>
      <a:accent2>
        <a:srgbClr val="8ABD24"/>
      </a:accent2>
      <a:accent3>
        <a:srgbClr val="0BA1DD"/>
      </a:accent3>
      <a:accent4>
        <a:srgbClr val="FFF179"/>
      </a:accent4>
      <a:accent5>
        <a:srgbClr val="E6007E"/>
      </a:accent5>
      <a:accent6>
        <a:srgbClr val="70AD47"/>
      </a:accent6>
      <a:hlink>
        <a:srgbClr val="8ABD24"/>
      </a:hlink>
      <a:folHlink>
        <a:srgbClr val="008938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250627_B90Gruene_PowerPoint-Vorlage_Grundlagendesign2025_GrueneTypeNeueFIX" id="{D7254C7D-5874-3A4C-86AE-8712B6AA8D7B}" vid="{08762404-F0DA-9F42-9139-D8E73A67D394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2_Office</Template>
  <TotalTime>0</TotalTime>
  <Words>793</Words>
  <Application>Microsoft Macintosh PowerPoint</Application>
  <PresentationFormat>Breitbild</PresentationFormat>
  <Paragraphs>160</Paragraphs>
  <Slides>21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21</vt:i4>
      </vt:variant>
    </vt:vector>
  </HeadingPairs>
  <TitlesOfParts>
    <vt:vector size="28" baseType="lpstr">
      <vt:lpstr>Aptos</vt:lpstr>
      <vt:lpstr>Arial</vt:lpstr>
      <vt:lpstr>Calibri</vt:lpstr>
      <vt:lpstr>GrueneType Neue</vt:lpstr>
      <vt:lpstr>PT Sans</vt:lpstr>
      <vt:lpstr>2_Office</vt:lpstr>
      <vt:lpstr>3_Office</vt:lpstr>
      <vt:lpstr>Titelfolie</vt:lpstr>
      <vt:lpstr>Titelfolie  mit Bild</vt:lpstr>
      <vt:lpstr>Fußzeile einstellen</vt:lpstr>
      <vt:lpstr>GrueneType Neue installieren</vt:lpstr>
      <vt:lpstr>Sonstige Tipps</vt:lpstr>
      <vt:lpstr>Tagesordnung Vorlage</vt:lpstr>
      <vt:lpstr>Beispiel mit  Text &amp; Bild</vt:lpstr>
      <vt:lpstr>Beispiel mit  Text &amp; Bild</vt:lpstr>
      <vt:lpstr>Textfolie</vt:lpstr>
      <vt:lpstr>Diagramm Vorlage</vt:lpstr>
      <vt:lpstr>Wir schützen Klima &amp; Wirtschaft, sorgen für Gerechtigkeit, verteidigen Demokratie &amp; Freiheit und schaffen Frieden &amp; Sicherheit.</vt:lpstr>
      <vt:lpstr>PowerPoint-Präsentation</vt:lpstr>
      <vt:lpstr>Bildfolie</vt:lpstr>
      <vt:lpstr>Vielen Dank</vt:lpstr>
      <vt:lpstr>Titelfolie</vt:lpstr>
      <vt:lpstr>Beispiel mit  Text &amp; Bild</vt:lpstr>
      <vt:lpstr>Beispiel mit  Text &amp; Bild</vt:lpstr>
      <vt:lpstr>Textfolie</vt:lpstr>
      <vt:lpstr>Diagramm Vorlage</vt:lpstr>
      <vt:lpstr>Wir schützen Klima &amp; Wirtschaft, sorgen für Gerechtigkeit, verteidigen Demokratie &amp; Freiheit und schaffen Frieden &amp; Sicherheit.</vt:lpstr>
      <vt:lpstr>Vielen Dank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 Heinemann</dc:creator>
  <cp:lastModifiedBy>Max Heinemann</cp:lastModifiedBy>
  <cp:revision>11</cp:revision>
  <dcterms:created xsi:type="dcterms:W3CDTF">2025-08-19T08:20:45Z</dcterms:created>
  <dcterms:modified xsi:type="dcterms:W3CDTF">2025-10-09T07:24:39Z</dcterms:modified>
</cp:coreProperties>
</file>